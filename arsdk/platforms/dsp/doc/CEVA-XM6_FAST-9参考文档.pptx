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  <p:sldMasterId id="2147483670" r:id="rId4"/>
  </p:sldMasterIdLst>
  <p:notesMasterIdLst>
    <p:notesMasterId r:id="rId16"/>
  </p:notesMasterIdLst>
  <p:handoutMasterIdLst>
    <p:handoutMasterId r:id="rId26"/>
  </p:handoutMasterIdLst>
  <p:sldIdLst>
    <p:sldId id="256" r:id="rId5"/>
    <p:sldId id="419" r:id="rId6"/>
    <p:sldId id="423" r:id="rId7"/>
    <p:sldId id="421" r:id="rId8"/>
    <p:sldId id="429" r:id="rId9"/>
    <p:sldId id="420" r:id="rId10"/>
    <p:sldId id="443" r:id="rId11"/>
    <p:sldId id="446" r:id="rId12"/>
    <p:sldId id="434" r:id="rId13"/>
    <p:sldId id="439" r:id="rId14"/>
    <p:sldId id="432" r:id="rId15"/>
    <p:sldId id="449" r:id="rId17"/>
    <p:sldId id="450" r:id="rId18"/>
    <p:sldId id="457" r:id="rId19"/>
    <p:sldId id="442" r:id="rId20"/>
    <p:sldId id="463" r:id="rId21"/>
    <p:sldId id="444" r:id="rId22"/>
    <p:sldId id="445" r:id="rId23"/>
    <p:sldId id="447" r:id="rId24"/>
    <p:sldId id="448" r:id="rId25"/>
  </p:sldIdLst>
  <p:sldSz cx="9144000" cy="5143500" type="screen16x9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3A80094-2646-4B67-BB3C-5A92FE4D6995}">
          <p14:sldIdLst>
            <p14:sldId id="256"/>
            <p14:sldId id="419"/>
            <p14:sldId id="423"/>
            <p14:sldId id="421"/>
            <p14:sldId id="429"/>
            <p14:sldId id="420"/>
            <p14:sldId id="443"/>
            <p14:sldId id="446"/>
            <p14:sldId id="434"/>
            <p14:sldId id="439"/>
            <p14:sldId id="432"/>
            <p14:sldId id="449"/>
            <p14:sldId id="450"/>
            <p14:sldId id="457"/>
            <p14:sldId id="442"/>
            <p14:sldId id="463"/>
            <p14:sldId id="444"/>
            <p14:sldId id="445"/>
            <p14:sldId id="447"/>
            <p14:sldId id="44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98C9"/>
    <a:srgbClr val="49C986"/>
    <a:srgbClr val="8EC31F"/>
    <a:srgbClr val="FFCC99"/>
    <a:srgbClr val="658C16"/>
    <a:srgbClr val="7B7A42"/>
    <a:srgbClr val="23538D"/>
    <a:srgbClr val="ADA53B"/>
    <a:srgbClr val="21CE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641" autoAdjust="0"/>
  </p:normalViewPr>
  <p:slideViewPr>
    <p:cSldViewPr>
      <p:cViewPr>
        <p:scale>
          <a:sx n="152" d="100"/>
          <a:sy n="152" d="100"/>
        </p:scale>
        <p:origin x="-136" y="-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228" y="-90"/>
      </p:cViewPr>
      <p:guideLst>
        <p:guide orient="horz" pos="287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0" Type="http://schemas.openxmlformats.org/officeDocument/2006/relationships/tags" Target="tags/tag27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E6D59-50C5-40AE-991F-C96FE7053D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5D794-40AC-4EE0-A9E3-3E33110FE6E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5E024-5E6E-4ECC-BD6A-34C68869BE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E3919-FC32-4C30-8613-7D6A8EED09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C999B-62BC-4721-BE07-2C24A52A86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6C78B5-A986-49E3-B62C-ADC2A1284D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C999B-62BC-4721-BE07-2C24A52A86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6C78B5-A986-49E3-B62C-ADC2A1284D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5049237"/>
            <a:ext cx="9144000" cy="94263"/>
          </a:xfrm>
          <a:prstGeom prst="rect">
            <a:avLst/>
          </a:prstGeom>
          <a:solidFill>
            <a:srgbClr val="8EC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50"/>
              </a:solidFill>
            </a:endParaRPr>
          </a:p>
        </p:txBody>
      </p:sp>
      <p:pic>
        <p:nvPicPr>
          <p:cNvPr id="9" name="Picture 2" descr="D:\产品推广\logo\Artosyn-Slogon.pn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515966"/>
            <a:ext cx="1145170" cy="504127"/>
          </a:xfrm>
          <a:prstGeom prst="rect">
            <a:avLst/>
          </a:prstGeom>
          <a:noFill/>
        </p:spPr>
      </p:pic>
      <p:pic>
        <p:nvPicPr>
          <p:cNvPr id="10" name="Picture 2" descr="D:\公司宣传图片\AI\Artosyn-Logo.pn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533" y="31476"/>
            <a:ext cx="1052518" cy="380034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2" y="-6964"/>
            <a:ext cx="2843806" cy="2124076"/>
            <a:chOff x="2" y="-6964"/>
            <a:chExt cx="2843806" cy="2124076"/>
          </a:xfrm>
        </p:grpSpPr>
        <p:grpSp>
          <p:nvGrpSpPr>
            <p:cNvPr id="7" name="组合 6"/>
            <p:cNvGrpSpPr/>
            <p:nvPr userDrawn="1"/>
          </p:nvGrpSpPr>
          <p:grpSpPr>
            <a:xfrm>
              <a:off x="2" y="324578"/>
              <a:ext cx="2771865" cy="145090"/>
              <a:chOff x="0" y="432770"/>
              <a:chExt cx="3854911" cy="193453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0" y="522515"/>
                <a:ext cx="3758185" cy="0"/>
              </a:xfrm>
              <a:prstGeom prst="line">
                <a:avLst/>
              </a:prstGeom>
              <a:ln w="38100">
                <a:solidFill>
                  <a:srgbClr val="8EC3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椭圆 8"/>
              <p:cNvSpPr/>
              <p:nvPr/>
            </p:nvSpPr>
            <p:spPr>
              <a:xfrm>
                <a:off x="3661458" y="432770"/>
                <a:ext cx="193453" cy="193453"/>
              </a:xfrm>
              <a:prstGeom prst="ellipse">
                <a:avLst/>
              </a:prstGeom>
              <a:solidFill>
                <a:srgbClr val="8EC3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等腰三角形-2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1021080" y="-6964"/>
              <a:ext cx="1822728" cy="953262"/>
            </a:xfrm>
            <a:prstGeom prst="triangle">
              <a:avLst/>
            </a:prstGeom>
            <a:solidFill>
              <a:srgbClr val="8EC3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1515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1" name="直角三角形-1"/>
            <p:cNvSpPr/>
            <p:nvPr userDrawn="1">
              <p:custDataLst>
                <p:tags r:id="rId4"/>
              </p:custDataLst>
            </p:nvPr>
          </p:nvSpPr>
          <p:spPr>
            <a:xfrm rot="5400000">
              <a:off x="-42686" y="36867"/>
              <a:ext cx="2124075" cy="2036416"/>
            </a:xfrm>
            <a:prstGeom prst="rtTriangle">
              <a:avLst/>
            </a:prstGeom>
            <a:solidFill>
              <a:schemeClr val="bg1">
                <a:lumMod val="9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300315" y="3140771"/>
            <a:ext cx="3843685" cy="2002729"/>
            <a:chOff x="2771800" y="1824228"/>
            <a:chExt cx="6370425" cy="3319272"/>
          </a:xfrm>
        </p:grpSpPr>
        <p:grpSp>
          <p:nvGrpSpPr>
            <p:cNvPr id="12" name="组合 11"/>
            <p:cNvGrpSpPr/>
            <p:nvPr userDrawn="1"/>
          </p:nvGrpSpPr>
          <p:grpSpPr>
            <a:xfrm>
              <a:off x="2771800" y="3006790"/>
              <a:ext cx="6370425" cy="1123095"/>
              <a:chOff x="5821575" y="4721290"/>
              <a:chExt cx="6370425" cy="1123095"/>
            </a:xfrm>
          </p:grpSpPr>
          <p:cxnSp>
            <p:nvCxnSpPr>
              <p:cNvPr id="13" name="直接连接符 12"/>
              <p:cNvCxnSpPr/>
              <p:nvPr/>
            </p:nvCxnSpPr>
            <p:spPr>
              <a:xfrm>
                <a:off x="5910581" y="5747658"/>
                <a:ext cx="2147180" cy="0"/>
              </a:xfrm>
              <a:prstGeom prst="line">
                <a:avLst/>
              </a:prstGeom>
              <a:ln w="38100">
                <a:solidFill>
                  <a:srgbClr val="8EC3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8057761" y="4721290"/>
                <a:ext cx="1054359" cy="1026369"/>
              </a:xfrm>
              <a:prstGeom prst="line">
                <a:avLst/>
              </a:prstGeom>
              <a:ln w="38100">
                <a:solidFill>
                  <a:srgbClr val="8EC3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9102852" y="4721290"/>
                <a:ext cx="3089148" cy="0"/>
              </a:xfrm>
              <a:prstGeom prst="line">
                <a:avLst/>
              </a:prstGeom>
              <a:ln w="38100">
                <a:solidFill>
                  <a:srgbClr val="8EC3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椭圆 15"/>
              <p:cNvSpPr/>
              <p:nvPr/>
            </p:nvSpPr>
            <p:spPr>
              <a:xfrm>
                <a:off x="5821575" y="5650932"/>
                <a:ext cx="193453" cy="193453"/>
              </a:xfrm>
              <a:prstGeom prst="ellipse">
                <a:avLst/>
              </a:prstGeom>
              <a:solidFill>
                <a:srgbClr val="8EC3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等腰三角形-1"/>
            <p:cNvSpPr/>
            <p:nvPr userDrawn="1">
              <p:custDataLst>
                <p:tags r:id="rId5"/>
              </p:custDataLst>
            </p:nvPr>
          </p:nvSpPr>
          <p:spPr>
            <a:xfrm>
              <a:off x="4768345" y="3781044"/>
              <a:ext cx="2569464" cy="1362456"/>
            </a:xfrm>
            <a:prstGeom prst="triangle">
              <a:avLst/>
            </a:prstGeom>
            <a:solidFill>
              <a:srgbClr val="8EC3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18" name="直角三角形-2"/>
            <p:cNvSpPr/>
            <p:nvPr userDrawn="1">
              <p:custDataLst>
                <p:tags r:id="rId6"/>
              </p:custDataLst>
            </p:nvPr>
          </p:nvSpPr>
          <p:spPr>
            <a:xfrm rot="16200000">
              <a:off x="5822953" y="1824228"/>
              <a:ext cx="3319272" cy="3319272"/>
            </a:xfrm>
            <a:prstGeom prst="rtTriangle">
              <a:avLst/>
            </a:prstGeom>
            <a:solidFill>
              <a:schemeClr val="bg1">
                <a:lumMod val="9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285711" y="-6965"/>
            <a:ext cx="1671590" cy="1930643"/>
            <a:chOff x="9093070" y="0"/>
            <a:chExt cx="2465328" cy="322671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1548873" y="0"/>
              <a:ext cx="0" cy="781050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0785095" y="793668"/>
              <a:ext cx="773303" cy="723900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10712320" y="1489794"/>
              <a:ext cx="101213" cy="10121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11264770" y="0"/>
              <a:ext cx="0" cy="781050"/>
            </a:xfrm>
            <a:prstGeom prst="line">
              <a:avLst/>
            </a:prstGeom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0740895" y="781050"/>
              <a:ext cx="523739" cy="480682"/>
            </a:xfrm>
            <a:prstGeom prst="line">
              <a:avLst/>
            </a:prstGeom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/>
            <p:cNvSpPr/>
            <p:nvPr/>
          </p:nvSpPr>
          <p:spPr>
            <a:xfrm>
              <a:off x="10639682" y="1172992"/>
              <a:ext cx="202425" cy="20242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10821789" y="0"/>
              <a:ext cx="0" cy="781050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9131170" y="781050"/>
              <a:ext cx="1690484" cy="1571625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/>
            <p:cNvSpPr/>
            <p:nvPr/>
          </p:nvSpPr>
          <p:spPr>
            <a:xfrm>
              <a:off x="9093070" y="3125505"/>
              <a:ext cx="101213" cy="10121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9131170" y="2352675"/>
              <a:ext cx="0" cy="823437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Picture 2" descr="D:\产品推广\logo\Artosyn-Slogo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587903"/>
            <a:ext cx="1145170" cy="504127"/>
          </a:xfrm>
          <a:prstGeom prst="rect">
            <a:avLst/>
          </a:prstGeom>
          <a:noFill/>
        </p:spPr>
      </p:pic>
      <p:grpSp>
        <p:nvGrpSpPr>
          <p:cNvPr id="44" name="组合 43"/>
          <p:cNvGrpSpPr/>
          <p:nvPr/>
        </p:nvGrpSpPr>
        <p:grpSpPr>
          <a:xfrm>
            <a:off x="16883" y="3236707"/>
            <a:ext cx="3402989" cy="905428"/>
            <a:chOff x="1143" y="3052287"/>
            <a:chExt cx="6415145" cy="1642149"/>
          </a:xfrm>
        </p:grpSpPr>
        <p:cxnSp>
          <p:nvCxnSpPr>
            <p:cNvPr id="45" name="直接连接符 44"/>
            <p:cNvCxnSpPr/>
            <p:nvPr/>
          </p:nvCxnSpPr>
          <p:spPr>
            <a:xfrm flipH="1">
              <a:off x="2571750" y="3153500"/>
              <a:ext cx="773303" cy="723900"/>
            </a:xfrm>
            <a:prstGeom prst="line">
              <a:avLst/>
            </a:prstGeom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1143" y="3877400"/>
              <a:ext cx="2570607" cy="0"/>
            </a:xfrm>
            <a:prstGeom prst="line">
              <a:avLst/>
            </a:prstGeom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/>
            <p:cNvSpPr/>
            <p:nvPr/>
          </p:nvSpPr>
          <p:spPr>
            <a:xfrm>
              <a:off x="3243840" y="3052287"/>
              <a:ext cx="202425" cy="20242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连接符 47"/>
            <p:cNvCxnSpPr/>
            <p:nvPr/>
          </p:nvCxnSpPr>
          <p:spPr>
            <a:xfrm flipH="1">
              <a:off x="2571750" y="3516175"/>
              <a:ext cx="773303" cy="723900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1143" y="4240075"/>
              <a:ext cx="2570607" cy="0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3345053" y="3516175"/>
              <a:ext cx="2989072" cy="0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/>
            <p:cNvSpPr/>
            <p:nvPr/>
          </p:nvSpPr>
          <p:spPr>
            <a:xfrm>
              <a:off x="6315075" y="3468550"/>
              <a:ext cx="101213" cy="10121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 flipH="1">
              <a:off x="1144" y="4593224"/>
              <a:ext cx="1789556" cy="0"/>
            </a:xfrm>
            <a:prstGeom prst="line">
              <a:avLst/>
            </a:prstGeom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52"/>
            <p:cNvSpPr/>
            <p:nvPr/>
          </p:nvSpPr>
          <p:spPr>
            <a:xfrm>
              <a:off x="1689487" y="4492011"/>
              <a:ext cx="202425" cy="20242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Picture 2" descr="D:\公司宣传图片\AI\Artosyn-Logo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533" y="31476"/>
            <a:ext cx="1052518" cy="380034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4A46D-68A0-496B-940D-85AD2ED043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9864-C449-46C1-9FBC-93B6C4FF238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5049237"/>
            <a:ext cx="9144000" cy="94263"/>
          </a:xfrm>
          <a:prstGeom prst="rect">
            <a:avLst/>
          </a:prstGeom>
          <a:solidFill>
            <a:srgbClr val="8EC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50"/>
              </a:solidFill>
            </a:endParaRPr>
          </a:p>
        </p:txBody>
      </p:sp>
      <p:pic>
        <p:nvPicPr>
          <p:cNvPr id="9" name="Picture 2" descr="D:\产品推广\logo\Artosyn-Slogon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515966"/>
            <a:ext cx="1145170" cy="504127"/>
          </a:xfrm>
          <a:prstGeom prst="rect">
            <a:avLst/>
          </a:prstGeom>
          <a:noFill/>
        </p:spPr>
      </p:pic>
      <p:pic>
        <p:nvPicPr>
          <p:cNvPr id="10" name="Picture 2" descr="D:\公司宣传图片\AI\Artosyn-Logo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533" y="31476"/>
            <a:ext cx="1052518" cy="380034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3.png"/><Relationship Id="rId3" Type="http://schemas.openxmlformats.org/officeDocument/2006/relationships/image" Target="../media/image10.png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2.png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0" Type="http://schemas.openxmlformats.org/officeDocument/2006/relationships/notesSlide" Target="../notesSlides/notesSlide1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16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3648" y="1563638"/>
            <a:ext cx="6106617" cy="7067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ln w="18415" cmpd="sng">
                  <a:noFill/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经典特宋简" pitchFamily="49" charset="-122"/>
              </a:rPr>
              <a:t>FAST-9 CEVA CV</a:t>
            </a:r>
            <a:endParaRPr lang="en-US" sz="4000" b="1" dirty="0">
              <a:ln w="18415" cmpd="sng">
                <a:noFill/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经典特宋简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478" y="267494"/>
            <a:ext cx="4678562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FAST-9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角点检测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矩形-5"/>
          <p:cNvSpPr/>
          <p:nvPr/>
        </p:nvSpPr>
        <p:spPr>
          <a:xfrm>
            <a:off x="5213054" y="2844943"/>
            <a:ext cx="156989" cy="23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246380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" r:id="rId2" imgW="914400" imgH="215900" progId="Equation.KSEE3">
                  <p:embed/>
                </p:oleObj>
              </mc:Choice>
              <mc:Fallback>
                <p:oleObj name="" r:id="rId2" imgW="9144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14800" y="246380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 descr="IMG_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80" y="1108075"/>
            <a:ext cx="4895850" cy="2381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5370195" y="1197610"/>
            <a:ext cx="35928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设</a:t>
            </a:r>
            <a:r>
              <a:rPr lang="en-US" altLang="zh-CN" b="1"/>
              <a:t>v</a:t>
            </a:r>
            <a:r>
              <a:rPr lang="zh-CN" altLang="en-US" b="1"/>
              <a:t>为中心像素亮度</a:t>
            </a:r>
            <a:r>
              <a:rPr lang="en-US" altLang="zh-CN" b="1"/>
              <a:t> </a:t>
            </a:r>
            <a:endParaRPr lang="en-US" altLang="zh-CN" b="1"/>
          </a:p>
          <a:p>
            <a:r>
              <a:rPr lang="en-US" altLang="zh-CN"/>
              <a:t>C1: P</a:t>
            </a:r>
            <a:r>
              <a:rPr lang="zh-CN" altLang="en-US"/>
              <a:t>周围</a:t>
            </a:r>
            <a:r>
              <a:rPr lang="en-US" altLang="zh-CN"/>
              <a:t>16</a:t>
            </a:r>
            <a:r>
              <a:rPr lang="zh-CN" altLang="en-US"/>
              <a:t>个像素，连续</a:t>
            </a:r>
            <a:r>
              <a:rPr lang="en-US" altLang="zh-CN"/>
              <a:t>9</a:t>
            </a:r>
            <a:r>
              <a:rPr lang="zh-CN" altLang="en-US"/>
              <a:t>个</a:t>
            </a:r>
            <a:r>
              <a:rPr lang="en-US" altLang="zh-CN"/>
              <a:t>+thr</a:t>
            </a:r>
            <a:r>
              <a:rPr lang="zh-CN" altLang="en-US"/>
              <a:t>小于</a:t>
            </a:r>
            <a:r>
              <a:rPr lang="en-US" altLang="zh-CN"/>
              <a:t>v</a:t>
            </a:r>
            <a:endParaRPr lang="en-US" altLang="zh-CN"/>
          </a:p>
          <a:p>
            <a:r>
              <a:rPr lang="en-US" altLang="zh-CN"/>
              <a:t>C2: 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周围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个像素，连续</a:t>
            </a: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-thr</a:t>
            </a:r>
            <a:r>
              <a:rPr lang="zh-CN" altLang="en-US">
                <a:sym typeface="+mn-ea"/>
              </a:rPr>
              <a:t>大于</a:t>
            </a:r>
            <a:r>
              <a:rPr lang="en-US" altLang="zh-CN">
                <a:sym typeface="+mn-ea"/>
              </a:rPr>
              <a:t>v</a:t>
            </a:r>
            <a:endParaRPr lang="en-US" altLang="zh-CN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265555" y="3550285"/>
            <a:ext cx="2803525" cy="252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1050" b="0">
                <a:solidFill>
                  <a:srgbClr val="454545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Features From Accelerated Segment Test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478" y="267494"/>
            <a:ext cx="4678562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Opencv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LUT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矩形-5"/>
          <p:cNvSpPr/>
          <p:nvPr/>
        </p:nvSpPr>
        <p:spPr>
          <a:xfrm>
            <a:off x="5213054" y="2844943"/>
            <a:ext cx="156989" cy="23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246380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" r:id="rId2" imgW="914400" imgH="215900" progId="Equation.KSEE3">
                  <p:embed/>
                </p:oleObj>
              </mc:Choice>
              <mc:Fallback>
                <p:oleObj name="" r:id="rId2" imgW="9144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14800" y="246380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" y="1018540"/>
            <a:ext cx="8106410" cy="6076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22015" y="2311400"/>
            <a:ext cx="40563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</a:t>
            </a:r>
            <a:r>
              <a:rPr lang="zh-CN" altLang="en-US" b="1"/>
              <a:t>表示</a:t>
            </a:r>
            <a:r>
              <a:rPr lang="zh-CN" b="1"/>
              <a:t>周边像素</a:t>
            </a:r>
            <a:r>
              <a:rPr lang="en-US" altLang="zh-CN" b="1"/>
              <a:t>r</a:t>
            </a:r>
            <a:r>
              <a:rPr lang="zh-CN" b="1"/>
              <a:t>与</a:t>
            </a:r>
            <a:r>
              <a:rPr lang="en-US" altLang="zh-CN" b="1">
                <a:sym typeface="+mn-ea"/>
              </a:rPr>
              <a:t>v</a:t>
            </a:r>
            <a:r>
              <a:rPr lang="zh-CN" altLang="en-US" b="1">
                <a:sym typeface="+mn-ea"/>
              </a:rPr>
              <a:t>的差，</a:t>
            </a:r>
            <a:r>
              <a:rPr lang="en-US" altLang="zh-CN" b="1">
                <a:sym typeface="+mn-ea"/>
              </a:rPr>
              <a:t>i = r - v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i&lt;-thr</a:t>
            </a:r>
            <a:r>
              <a:rPr lang="zh-CN" altLang="en-US">
                <a:sym typeface="+mn-ea"/>
              </a:rPr>
              <a:t>对应</a:t>
            </a:r>
            <a:r>
              <a:rPr lang="en-US" altLang="zh-CN">
                <a:sym typeface="+mn-ea"/>
              </a:rPr>
              <a:t>C1:r+thr&lt;v</a:t>
            </a: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i&gt;+thr</a:t>
            </a:r>
            <a:r>
              <a:rPr lang="zh-CN" altLang="en-US">
                <a:sym typeface="+mn-ea"/>
              </a:rPr>
              <a:t>对应</a:t>
            </a:r>
            <a:r>
              <a:rPr lang="en-US" altLang="zh-CN">
                <a:sym typeface="+mn-ea"/>
              </a:rPr>
              <a:t>C2:r-thr&gt;v</a:t>
            </a: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>
                <a:sym typeface="+mn-ea"/>
              </a:rPr>
              <a:t>不属于</a:t>
            </a:r>
            <a:r>
              <a:rPr lang="en-US" altLang="zh-CN">
                <a:sym typeface="+mn-ea"/>
              </a:rPr>
              <a:t>C1/C2</a:t>
            </a:r>
            <a:r>
              <a:rPr lang="zh-CN" altLang="en-US">
                <a:sym typeface="+mn-ea"/>
              </a:rPr>
              <a:t>则属于</a:t>
            </a:r>
            <a:r>
              <a:rPr lang="en-US" altLang="zh-CN">
                <a:sym typeface="+mn-ea"/>
              </a:rPr>
              <a:t>C0</a:t>
            </a: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tab</a:t>
            </a:r>
            <a:r>
              <a:rPr lang="zh-CN" altLang="en-US">
                <a:sym typeface="+mn-ea"/>
              </a:rPr>
              <a:t>中存的值是</a:t>
            </a:r>
            <a:r>
              <a:rPr lang="en-US" altLang="zh-CN">
                <a:sym typeface="+mn-ea"/>
              </a:rPr>
              <a:t>r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的关系值</a:t>
            </a:r>
            <a:r>
              <a:rPr lang="en-US" altLang="zh-CN">
                <a:sym typeface="+mn-ea"/>
              </a:rPr>
              <a:t>{1,2,0}</a:t>
            </a:r>
            <a:r>
              <a:rPr lang="zh-CN" altLang="en-US">
                <a:sym typeface="+mn-ea"/>
              </a:rPr>
              <a:t>，使用</a:t>
            </a:r>
            <a:r>
              <a:rPr lang="en-US" altLang="zh-CN">
                <a:sym typeface="+mn-ea"/>
              </a:rPr>
              <a:t>tab</a:t>
            </a:r>
            <a:r>
              <a:rPr lang="zh-CN" altLang="en-US">
                <a:sym typeface="+mn-ea"/>
              </a:rPr>
              <a:t>替代</a:t>
            </a:r>
            <a:r>
              <a:rPr lang="en-US" altLang="zh-CN">
                <a:sym typeface="+mn-ea"/>
              </a:rPr>
              <a:t>if</a:t>
            </a:r>
            <a:r>
              <a:rPr lang="zh-CN" altLang="en-US">
                <a:sym typeface="+mn-ea"/>
              </a:rPr>
              <a:t>语句判断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30" y="1933575"/>
            <a:ext cx="2333625" cy="2305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6064250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Opencv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加速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early-stage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165" y="1595755"/>
            <a:ext cx="3619500" cy="238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165" y="2323465"/>
            <a:ext cx="3400425" cy="600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70" y="876300"/>
            <a:ext cx="1504950" cy="23717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1235" y="955040"/>
            <a:ext cx="5590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ym typeface="+mn-ea"/>
              </a:rPr>
              <a:t>鸽笼原理，中心线上的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对点（如</a:t>
            </a:r>
            <a:r>
              <a:rPr lang="en-US" altLang="zh-CN" sz="1600">
                <a:sym typeface="+mn-ea"/>
              </a:rPr>
              <a:t>[p0,p8]</a:t>
            </a:r>
            <a:r>
              <a:rPr lang="zh-CN" altLang="en-US" sz="1600">
                <a:sym typeface="+mn-ea"/>
              </a:rPr>
              <a:t>），其中至少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个与原点的关系值为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或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，两个点关系值的</a:t>
            </a:r>
            <a:r>
              <a:rPr lang="en-US" altLang="zh-CN" sz="1600">
                <a:sym typeface="+mn-ea"/>
              </a:rPr>
              <a:t>'|'</a:t>
            </a:r>
            <a:r>
              <a:rPr lang="zh-CN" altLang="en-US" sz="1600">
                <a:sym typeface="+mn-ea"/>
              </a:rPr>
              <a:t>运算值必然为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7920" y="1967230"/>
            <a:ext cx="895350" cy="190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2485" y="1967230"/>
            <a:ext cx="657225" cy="1809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030" y="3067050"/>
            <a:ext cx="895350" cy="1905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3595" y="3067050"/>
            <a:ext cx="657225" cy="1809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36165" y="3436620"/>
            <a:ext cx="554926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>
                <a:sym typeface="+mn-ea"/>
              </a:rPr>
              <a:t>根据偶数编号</a:t>
            </a:r>
            <a:r>
              <a:rPr lang="en-US" altLang="zh-CN" sz="1600">
                <a:sym typeface="+mn-ea"/>
              </a:rPr>
              <a:t>4</a:t>
            </a:r>
            <a:r>
              <a:rPr lang="zh-CN" altLang="en-US" sz="1600">
                <a:sym typeface="+mn-ea"/>
              </a:rPr>
              <a:t>对点关系值</a:t>
            </a:r>
            <a:r>
              <a:rPr lang="en-US" altLang="zh-CN" sz="1600">
                <a:sym typeface="+mn-ea"/>
              </a:rPr>
              <a:t>'|'</a:t>
            </a:r>
            <a:r>
              <a:rPr lang="zh-CN" altLang="en-US" sz="1600">
                <a:sym typeface="+mn-ea"/>
              </a:rPr>
              <a:t>运算结果，判断是否是候选角点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649210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Opencv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加速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：快速判断可能满足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Cx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6870" y="883920"/>
            <a:ext cx="1504950" cy="2371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220" y="1669415"/>
            <a:ext cx="3457575" cy="895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220" y="813435"/>
            <a:ext cx="3619500" cy="2381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6795" y="1069340"/>
            <a:ext cx="3400425" cy="6000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711960" y="2708275"/>
            <a:ext cx="572008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>
                <a:sym typeface="+mn-ea"/>
              </a:rPr>
              <a:t>某一对</a:t>
            </a:r>
            <a:r>
              <a:rPr lang="en-US" sz="1400" b="1">
                <a:sym typeface="+mn-ea"/>
              </a:rPr>
              <a:t>d</a:t>
            </a:r>
            <a:r>
              <a:rPr lang="zh-CN" altLang="en-US" sz="1400" b="1">
                <a:sym typeface="+mn-ea"/>
              </a:rPr>
              <a:t>值二进制表达只可能是</a:t>
            </a:r>
            <a:r>
              <a:rPr lang="en-US" altLang="zh-CN" sz="1400" b="1">
                <a:sym typeface="+mn-ea"/>
              </a:rPr>
              <a:t>00,01,10</a:t>
            </a:r>
            <a:r>
              <a:rPr lang="zh-CN" altLang="en-US" sz="1400" b="1">
                <a:sym typeface="+mn-ea"/>
              </a:rPr>
              <a:t>三种，</a:t>
            </a:r>
            <a:r>
              <a:rPr lang="en-US" altLang="zh-CN" sz="1400" b="1">
                <a:sym typeface="+mn-ea"/>
              </a:rPr>
              <a:t>&amp;=</a:t>
            </a:r>
            <a:r>
              <a:rPr lang="zh-CN" altLang="en-US" sz="1400" b="1">
                <a:sym typeface="+mn-ea"/>
              </a:rPr>
              <a:t>操作后最终</a:t>
            </a:r>
            <a:r>
              <a:rPr lang="en-US" altLang="zh-CN" sz="1400" b="1">
                <a:sym typeface="+mn-ea"/>
              </a:rPr>
              <a:t>d</a:t>
            </a:r>
            <a:r>
              <a:rPr lang="zh-CN" altLang="en-US" sz="1400" b="1">
                <a:sym typeface="+mn-ea"/>
              </a:rPr>
              <a:t>值只可能是</a:t>
            </a:r>
            <a:r>
              <a:rPr lang="en-US" altLang="zh-CN" sz="1400" b="1">
                <a:sym typeface="+mn-ea"/>
              </a:rPr>
              <a:t>00,01,10,11</a:t>
            </a:r>
            <a:r>
              <a:rPr lang="zh-CN" altLang="en-US" sz="1400" b="1">
                <a:sym typeface="+mn-ea"/>
              </a:rPr>
              <a:t>。</a:t>
            </a:r>
            <a:endParaRPr lang="zh-CN" altLang="en-US" sz="1400" b="1">
              <a:sym typeface="+mn-ea"/>
            </a:endParaRPr>
          </a:p>
          <a:p>
            <a:r>
              <a:rPr lang="zh-CN" altLang="en-US" sz="1400" b="1">
                <a:sym typeface="+mn-ea"/>
              </a:rPr>
              <a:t>分析最终</a:t>
            </a:r>
            <a:r>
              <a:rPr lang="en-US" altLang="zh-CN" sz="1400" b="1">
                <a:sym typeface="+mn-ea"/>
              </a:rPr>
              <a:t>d</a:t>
            </a:r>
            <a:r>
              <a:rPr lang="zh-CN" altLang="en-US" sz="1400" b="1">
                <a:sym typeface="+mn-ea"/>
              </a:rPr>
              <a:t>值：</a:t>
            </a:r>
            <a:endParaRPr lang="zh-CN" altLang="en-US" sz="1400" b="1">
              <a:sym typeface="+mn-ea"/>
            </a:endParaRPr>
          </a:p>
          <a:p>
            <a:r>
              <a:rPr lang="en-US" altLang="zh-CN" sz="1400">
                <a:sym typeface="+mn-ea"/>
              </a:rPr>
              <a:t>00:</a:t>
            </a:r>
            <a:r>
              <a:rPr lang="zh-CN" altLang="en-US" sz="1400">
                <a:sym typeface="+mn-ea"/>
              </a:rPr>
              <a:t>存在某一对值为</a:t>
            </a:r>
            <a:r>
              <a:rPr lang="en-US" altLang="zh-CN" sz="1400">
                <a:sym typeface="+mn-ea"/>
              </a:rPr>
              <a:t>00</a:t>
            </a:r>
            <a:r>
              <a:rPr lang="zh-CN" altLang="en-US" sz="1400">
                <a:sym typeface="+mn-ea"/>
              </a:rPr>
              <a:t>，或存在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对为</a:t>
            </a:r>
            <a:r>
              <a:rPr lang="en-US" altLang="zh-CN" sz="1400">
                <a:sym typeface="+mn-ea"/>
              </a:rPr>
              <a:t>10</a:t>
            </a:r>
            <a:r>
              <a:rPr lang="zh-CN" altLang="en-US" sz="1400">
                <a:sym typeface="+mn-ea"/>
              </a:rPr>
              <a:t>，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对为</a:t>
            </a:r>
            <a:r>
              <a:rPr lang="en-US" altLang="zh-CN" sz="1400">
                <a:sym typeface="+mn-ea"/>
              </a:rPr>
              <a:t>01</a:t>
            </a:r>
            <a:r>
              <a:rPr lang="zh-CN" altLang="en-US" sz="1400">
                <a:sym typeface="+mn-ea"/>
              </a:rPr>
              <a:t>。</a:t>
            </a:r>
            <a:r>
              <a:rPr lang="en-US" altLang="zh-CN" sz="1400">
                <a:sym typeface="+mn-ea"/>
              </a:rPr>
              <a:t>00</a:t>
            </a:r>
            <a:r>
              <a:rPr lang="zh-CN" altLang="en-US" sz="1400">
                <a:sym typeface="+mn-ea"/>
              </a:rPr>
              <a:t>情况忽略，</a:t>
            </a:r>
            <a:r>
              <a:rPr lang="en-US" altLang="zh-CN" sz="1400">
                <a:sym typeface="+mn-ea"/>
              </a:rPr>
              <a:t>[01,10]</a:t>
            </a:r>
            <a:r>
              <a:rPr lang="zh-CN" altLang="en-US" sz="1400">
                <a:sym typeface="+mn-ea"/>
              </a:rPr>
              <a:t>情况冲突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01:</a:t>
            </a:r>
            <a:r>
              <a:rPr lang="zh-CN" altLang="en-US" sz="1400">
                <a:sym typeface="+mn-ea"/>
              </a:rPr>
              <a:t>所有对值都是</a:t>
            </a:r>
            <a:r>
              <a:rPr lang="en-US" altLang="zh-CN" sz="1400">
                <a:sym typeface="+mn-ea"/>
              </a:rPr>
              <a:t>01</a:t>
            </a:r>
            <a:r>
              <a:rPr lang="zh-CN" altLang="en-US" sz="1400">
                <a:sym typeface="+mn-ea"/>
              </a:rPr>
              <a:t>或</a:t>
            </a:r>
            <a:r>
              <a:rPr lang="en-US" altLang="zh-CN" sz="1400">
                <a:sym typeface="+mn-ea"/>
              </a:rPr>
              <a:t>11</a:t>
            </a:r>
            <a:r>
              <a:rPr lang="zh-CN" altLang="en-US" sz="1400">
                <a:sym typeface="+mn-ea"/>
              </a:rPr>
              <a:t>，只可能是连续</a:t>
            </a:r>
            <a:r>
              <a:rPr lang="en-US" altLang="zh-CN" sz="1400">
                <a:sym typeface="+mn-ea"/>
              </a:rPr>
              <a:t>9</a:t>
            </a:r>
            <a:r>
              <a:rPr lang="zh-CN" altLang="en-US" sz="1400">
                <a:sym typeface="+mn-ea"/>
              </a:rPr>
              <a:t>个满足</a:t>
            </a:r>
            <a:r>
              <a:rPr lang="en-US" altLang="zh-CN" sz="1400">
                <a:sym typeface="+mn-ea"/>
              </a:rPr>
              <a:t>C1</a:t>
            </a:r>
            <a:endParaRPr lang="en-US" altLang="zh-CN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10:</a:t>
            </a:r>
            <a:r>
              <a:rPr lang="zh-CN" altLang="en-US" sz="1400">
                <a:sym typeface="+mn-ea"/>
              </a:rPr>
              <a:t>所有对值都是</a:t>
            </a:r>
            <a:r>
              <a:rPr lang="en-US" altLang="zh-CN" sz="1400">
                <a:sym typeface="+mn-ea"/>
              </a:rPr>
              <a:t>10</a:t>
            </a:r>
            <a:r>
              <a:rPr lang="zh-CN" altLang="en-US" sz="1400">
                <a:sym typeface="+mn-ea"/>
              </a:rPr>
              <a:t>或</a:t>
            </a:r>
            <a:r>
              <a:rPr lang="en-US" altLang="zh-CN" sz="1400">
                <a:sym typeface="+mn-ea"/>
              </a:rPr>
              <a:t>11</a:t>
            </a:r>
            <a:r>
              <a:rPr lang="zh-CN" altLang="en-US" sz="1400">
                <a:sym typeface="+mn-ea"/>
              </a:rPr>
              <a:t>，只可能是连续</a:t>
            </a:r>
            <a:r>
              <a:rPr lang="en-US" altLang="zh-CN" sz="1400">
                <a:sym typeface="+mn-ea"/>
              </a:rPr>
              <a:t>9</a:t>
            </a:r>
            <a:r>
              <a:rPr lang="zh-CN" altLang="en-US" sz="1400">
                <a:sym typeface="+mn-ea"/>
              </a:rPr>
              <a:t>个满足</a:t>
            </a:r>
            <a:r>
              <a:rPr lang="en-US" altLang="zh-CN" sz="1400">
                <a:sym typeface="+mn-ea"/>
              </a:rPr>
              <a:t>C2</a:t>
            </a:r>
            <a:endParaRPr lang="en-US" altLang="zh-CN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11:</a:t>
            </a:r>
            <a:r>
              <a:rPr lang="zh-CN" altLang="en-US" sz="1400">
                <a:sym typeface="+mn-ea"/>
              </a:rPr>
              <a:t>所有对值都是</a:t>
            </a:r>
            <a:r>
              <a:rPr lang="en-US" altLang="zh-CN" sz="1400">
                <a:sym typeface="+mn-ea"/>
              </a:rPr>
              <a:t>11</a:t>
            </a:r>
            <a:r>
              <a:rPr lang="zh-CN" altLang="en-US" sz="1400">
                <a:sym typeface="+mn-ea"/>
              </a:rPr>
              <a:t>，不存在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7236460" y="845820"/>
            <a:ext cx="1159510" cy="12357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7812405" y="629285"/>
            <a:ext cx="0" cy="1727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236460" y="845820"/>
            <a:ext cx="1152525" cy="1223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645400" y="390525"/>
            <a:ext cx="34163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200">
                <a:sym typeface="+mn-ea"/>
              </a:rPr>
              <a:t>C1</a:t>
            </a:r>
            <a:endParaRPr lang="en-US" altLang="zh-CN" sz="1200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45400" y="2277745"/>
            <a:ext cx="34163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200">
                <a:sym typeface="+mn-ea"/>
              </a:rPr>
              <a:t>C1</a:t>
            </a:r>
            <a:endParaRPr lang="en-US" altLang="zh-CN" sz="1200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88810" y="629285"/>
            <a:ext cx="34163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200">
                <a:sym typeface="+mn-ea"/>
              </a:rPr>
              <a:t>C2</a:t>
            </a:r>
            <a:endParaRPr lang="en-US" altLang="zh-CN" sz="12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7230" y="1931670"/>
            <a:ext cx="34163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200">
                <a:sym typeface="+mn-ea"/>
              </a:rPr>
              <a:t>C2</a:t>
            </a:r>
            <a:endParaRPr lang="en-US" altLang="zh-CN" sz="1200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330440" y="2481580"/>
            <a:ext cx="10528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>
                <a:sym typeface="+mn-ea"/>
              </a:rPr>
              <a:t>[01,10]</a:t>
            </a:r>
            <a:r>
              <a:rPr lang="zh-CN" altLang="en-US" sz="1400">
                <a:sym typeface="+mn-ea"/>
              </a:rPr>
              <a:t>冲突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649210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Opencv cornerScore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7500" y="989965"/>
            <a:ext cx="57200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ym typeface="+mn-ea"/>
              </a:rPr>
              <a:t>Score</a:t>
            </a:r>
            <a:r>
              <a:rPr lang="zh-CN" altLang="en-US" sz="1600" b="1">
                <a:sym typeface="+mn-ea"/>
              </a:rPr>
              <a:t>计算目的：</a:t>
            </a:r>
            <a:r>
              <a:rPr lang="zh-CN" sz="1600">
                <a:sym typeface="+mn-ea"/>
              </a:rPr>
              <a:t>利用</a:t>
            </a:r>
            <a:r>
              <a:rPr lang="en-US" altLang="zh-CN" sz="1600">
                <a:sym typeface="+mn-ea"/>
              </a:rPr>
              <a:t>scroe</a:t>
            </a:r>
            <a:r>
              <a:rPr lang="zh-CN" altLang="en-US" sz="1600">
                <a:sym typeface="+mn-ea"/>
              </a:rPr>
              <a:t>进行</a:t>
            </a:r>
            <a:r>
              <a:rPr lang="en-US" altLang="zh-CN" sz="1600">
                <a:sym typeface="+mn-ea"/>
              </a:rPr>
              <a:t>nms</a:t>
            </a:r>
            <a:r>
              <a:rPr lang="zh-CN" altLang="en-US" sz="1600">
                <a:sym typeface="+mn-ea"/>
              </a:rPr>
              <a:t>，剔除非极大值候选角点</a:t>
            </a:r>
            <a:endParaRPr lang="en-US" altLang="zh-CN" sz="16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905" y="1886585"/>
            <a:ext cx="57511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ym typeface="+mn-ea"/>
              </a:rPr>
              <a:t>满足</a:t>
            </a:r>
            <a:r>
              <a:rPr lang="en-US" altLang="zh-CN" sz="1600" b="1">
                <a:sym typeface="+mn-ea"/>
              </a:rPr>
              <a:t>9</a:t>
            </a:r>
            <a:r>
              <a:rPr lang="zh-CN" altLang="en-US" sz="1600" b="1">
                <a:sym typeface="+mn-ea"/>
              </a:rPr>
              <a:t>连续</a:t>
            </a:r>
            <a:r>
              <a:rPr lang="en-US" altLang="zh-CN" sz="1600" b="1">
                <a:sym typeface="+mn-ea"/>
              </a:rPr>
              <a:t>C1</a:t>
            </a:r>
            <a:r>
              <a:rPr lang="zh-CN" altLang="en-US" sz="1600" b="1">
                <a:sym typeface="+mn-ea"/>
              </a:rPr>
              <a:t>条件点</a:t>
            </a:r>
            <a:r>
              <a:rPr lang="en-US" altLang="zh-CN" sz="1600" b="1">
                <a:sym typeface="+mn-ea"/>
              </a:rPr>
              <a:t>(d=v-r&gt;thr)</a:t>
            </a:r>
            <a:r>
              <a:rPr lang="zh-CN" altLang="en-US" sz="1600" b="1">
                <a:sym typeface="+mn-ea"/>
              </a:rPr>
              <a:t>：</a:t>
            </a:r>
            <a:endParaRPr lang="zh-CN" altLang="en-US" sz="1600"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>
                <a:sym typeface="+mn-ea"/>
              </a:rPr>
              <a:t>for(k=0;k&lt;16;k+=2)</a:t>
            </a:r>
            <a:r>
              <a:rPr lang="zh-CN" altLang="en-US" sz="1600">
                <a:sym typeface="+mn-ea"/>
              </a:rPr>
              <a:t>，</a:t>
            </a:r>
            <a:r>
              <a:rPr lang="en-US" altLang="zh-CN" sz="1600">
                <a:sym typeface="+mn-ea"/>
              </a:rPr>
              <a:t>d[k]...d[k+9]</a:t>
            </a:r>
            <a:r>
              <a:rPr lang="zh-CN" altLang="en-US" sz="1600">
                <a:sym typeface="+mn-ea"/>
              </a:rPr>
              <a:t>中最小的作为</a:t>
            </a:r>
            <a:r>
              <a:rPr lang="en-US" altLang="zh-CN" sz="1600">
                <a:sym typeface="+mn-ea"/>
              </a:rPr>
              <a:t>k-iter</a:t>
            </a:r>
            <a:r>
              <a:rPr lang="zh-CN" altLang="en-US" sz="1600">
                <a:sym typeface="+mn-ea"/>
              </a:rPr>
              <a:t>的</a:t>
            </a:r>
            <a:r>
              <a:rPr lang="en-US" altLang="zh-CN" sz="1600">
                <a:sym typeface="+mn-ea"/>
              </a:rPr>
              <a:t>score</a:t>
            </a:r>
            <a:r>
              <a:rPr lang="zh-CN" altLang="en-US" sz="1600">
                <a:sym typeface="+mn-ea"/>
              </a:rPr>
              <a:t>，所有</a:t>
            </a:r>
            <a:r>
              <a:rPr lang="en-US" altLang="zh-CN" sz="1600">
                <a:sym typeface="+mn-ea"/>
              </a:rPr>
              <a:t>iter</a:t>
            </a:r>
            <a:r>
              <a:rPr lang="zh-CN" altLang="en-US" sz="1600">
                <a:sym typeface="+mn-ea"/>
              </a:rPr>
              <a:t>的</a:t>
            </a:r>
            <a:r>
              <a:rPr lang="en-US" altLang="zh-CN" sz="1600">
                <a:sym typeface="+mn-ea"/>
              </a:rPr>
              <a:t>score</a:t>
            </a:r>
            <a:r>
              <a:rPr lang="zh-CN" altLang="en-US" sz="1600">
                <a:sym typeface="+mn-ea"/>
              </a:rPr>
              <a:t>选最大的作为</a:t>
            </a:r>
            <a:r>
              <a:rPr lang="en-US" altLang="zh-CN" sz="1600">
                <a:sym typeface="+mn-ea"/>
              </a:rPr>
              <a:t>cornerScore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" y="1375410"/>
            <a:ext cx="2971800" cy="4667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375025" y="1401445"/>
            <a:ext cx="2432685" cy="414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400">
                <a:sym typeface="+mn-ea"/>
              </a:rPr>
              <a:t>计算</a:t>
            </a:r>
            <a:r>
              <a:rPr lang="en-US" altLang="zh-CN" sz="1400">
                <a:sym typeface="+mn-ea"/>
              </a:rPr>
              <a:t>p</a:t>
            </a:r>
            <a:r>
              <a:rPr lang="zh-CN" sz="1400">
                <a:sym typeface="+mn-ea"/>
              </a:rPr>
              <a:t>与圆上点的亮度差</a:t>
            </a:r>
            <a:r>
              <a:rPr lang="en-US" altLang="zh-CN" sz="1400">
                <a:sym typeface="+mn-ea"/>
              </a:rPr>
              <a:t>d=v-r</a:t>
            </a:r>
            <a:endParaRPr lang="en-US" altLang="zh-CN" sz="140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540" y="699135"/>
            <a:ext cx="2333625" cy="23050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07035" y="3121025"/>
            <a:ext cx="57270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ym typeface="+mn-ea"/>
              </a:rPr>
              <a:t>满足</a:t>
            </a:r>
            <a:r>
              <a:rPr lang="en-US" altLang="zh-CN" sz="1600" b="1">
                <a:sym typeface="+mn-ea"/>
              </a:rPr>
              <a:t>9</a:t>
            </a:r>
            <a:r>
              <a:rPr lang="zh-CN" altLang="en-US" sz="1600" b="1">
                <a:sym typeface="+mn-ea"/>
              </a:rPr>
              <a:t>连续</a:t>
            </a:r>
            <a:r>
              <a:rPr lang="en-US" altLang="zh-CN" sz="1600" b="1">
                <a:sym typeface="+mn-ea"/>
              </a:rPr>
              <a:t>C2</a:t>
            </a:r>
            <a:r>
              <a:rPr lang="zh-CN" altLang="en-US" sz="1600" b="1">
                <a:sym typeface="+mn-ea"/>
              </a:rPr>
              <a:t>条件点</a:t>
            </a:r>
            <a:r>
              <a:rPr lang="en-US" altLang="zh-CN" sz="1600" b="1">
                <a:sym typeface="+mn-ea"/>
              </a:rPr>
              <a:t>(d=v-r&lt;-thr)</a:t>
            </a:r>
            <a:r>
              <a:rPr lang="zh-CN" altLang="en-US" sz="1600" b="1">
                <a:sym typeface="+mn-ea"/>
              </a:rPr>
              <a:t>：</a:t>
            </a:r>
            <a:endParaRPr lang="zh-CN" altLang="en-US" sz="1600"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>
                <a:sym typeface="+mn-ea"/>
              </a:rPr>
              <a:t>for(k=0;k&lt;16;k+=2)</a:t>
            </a:r>
            <a:r>
              <a:rPr lang="zh-CN" altLang="en-US" sz="1600">
                <a:sym typeface="+mn-ea"/>
              </a:rPr>
              <a:t>，</a:t>
            </a:r>
            <a:r>
              <a:rPr lang="en-US" altLang="zh-CN" sz="1600">
                <a:sym typeface="+mn-ea"/>
              </a:rPr>
              <a:t>d[k]...d[k+9]</a:t>
            </a:r>
            <a:r>
              <a:rPr lang="zh-CN" altLang="en-US" sz="1600">
                <a:sym typeface="+mn-ea"/>
              </a:rPr>
              <a:t>中最大的作为</a:t>
            </a:r>
            <a:r>
              <a:rPr lang="en-US" altLang="zh-CN" sz="1600">
                <a:sym typeface="+mn-ea"/>
              </a:rPr>
              <a:t>k-iter</a:t>
            </a:r>
            <a:r>
              <a:rPr lang="zh-CN" altLang="en-US" sz="1600">
                <a:sym typeface="+mn-ea"/>
              </a:rPr>
              <a:t>的</a:t>
            </a:r>
            <a:r>
              <a:rPr lang="en-US" altLang="zh-CN" sz="1600">
                <a:sym typeface="+mn-ea"/>
              </a:rPr>
              <a:t>nscroe</a:t>
            </a:r>
            <a:r>
              <a:rPr lang="zh-CN" altLang="en-US" sz="1600">
                <a:sym typeface="+mn-ea"/>
              </a:rPr>
              <a:t>，所有</a:t>
            </a:r>
            <a:r>
              <a:rPr lang="en-US" altLang="zh-CN" sz="1600">
                <a:sym typeface="+mn-ea"/>
              </a:rPr>
              <a:t>iter</a:t>
            </a:r>
            <a:r>
              <a:rPr lang="zh-CN" altLang="en-US" sz="1600">
                <a:sym typeface="+mn-ea"/>
              </a:rPr>
              <a:t>的</a:t>
            </a:r>
            <a:r>
              <a:rPr lang="en-US" altLang="zh-CN" sz="1600">
                <a:sym typeface="+mn-ea"/>
              </a:rPr>
              <a:t>nscore</a:t>
            </a:r>
            <a:r>
              <a:rPr lang="zh-CN" altLang="en-US" sz="1600">
                <a:sym typeface="+mn-ea"/>
              </a:rPr>
              <a:t>选最小的作为最终</a:t>
            </a:r>
            <a:r>
              <a:rPr lang="en-US" altLang="zh-CN" sz="1600">
                <a:sym typeface="+mn-ea"/>
              </a:rPr>
              <a:t>nscore</a:t>
            </a:r>
            <a:r>
              <a:rPr lang="zh-CN" altLang="en-US" sz="1600">
                <a:sym typeface="+mn-ea"/>
              </a:rPr>
              <a:t>，</a:t>
            </a:r>
            <a:r>
              <a:rPr lang="en-US" altLang="zh-CN" sz="1600">
                <a:sym typeface="+mn-ea"/>
              </a:rPr>
              <a:t>cornerScore=-nscore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649210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CEVA FAST-9</a:t>
            </a: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代码结构</a:t>
            </a:r>
            <a:endParaRPr 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0505" y="813435"/>
            <a:ext cx="2517775" cy="41713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748280" y="965200"/>
            <a:ext cx="542861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ym typeface="+mn-ea"/>
              </a:rPr>
              <a:t>fast9_app: main</a:t>
            </a:r>
            <a:r>
              <a:rPr lang="zh-CN" altLang="en-US" sz="1400" b="1">
                <a:sym typeface="+mn-ea"/>
              </a:rPr>
              <a:t>函数入口，跑示范例子代码，调用</a:t>
            </a:r>
            <a:r>
              <a:rPr lang="en-US" altLang="zh-CN" sz="1400" b="1">
                <a:sym typeface="+mn-ea"/>
              </a:rPr>
              <a:t>fast9_detector.cpp</a:t>
            </a:r>
            <a:endParaRPr lang="en-US" altLang="zh-CN" sz="1400" b="1">
              <a:sym typeface="+mn-ea"/>
            </a:endParaRPr>
          </a:p>
          <a:p>
            <a:r>
              <a:rPr lang="zh-CN" altLang="en-US" sz="1400" b="1">
                <a:sym typeface="+mn-ea"/>
              </a:rPr>
              <a:t>里的封装</a:t>
            </a:r>
            <a:endParaRPr lang="zh-CN" altLang="en-US" sz="1400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48280" y="2124075"/>
            <a:ext cx="591121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ym typeface="+mn-ea"/>
              </a:rPr>
              <a:t>fast9_detecor_lib: tile</a:t>
            </a:r>
            <a:r>
              <a:rPr lang="zh-CN" altLang="en-US" sz="1400" b="1">
                <a:sym typeface="+mn-ea"/>
              </a:rPr>
              <a:t>划分，</a:t>
            </a:r>
            <a:r>
              <a:rPr lang="en-US" altLang="zh-CN" sz="1400" b="1">
                <a:sym typeface="+mn-ea"/>
              </a:rPr>
              <a:t>ping-pong</a:t>
            </a:r>
            <a:r>
              <a:rPr lang="zh-CN" altLang="en-US" sz="1400" b="1">
                <a:sym typeface="+mn-ea"/>
              </a:rPr>
              <a:t>流程组织，调用</a:t>
            </a:r>
            <a:r>
              <a:rPr lang="en-US" altLang="zh-CN" sz="1400" b="1">
                <a:sym typeface="+mn-ea"/>
              </a:rPr>
              <a:t>feature_lib/Fast9.cpp</a:t>
            </a:r>
            <a:endParaRPr lang="en-US" altLang="zh-CN" sz="1400" b="1">
              <a:sym typeface="+mn-ea"/>
            </a:endParaRPr>
          </a:p>
          <a:p>
            <a:r>
              <a:rPr lang="zh-CN" altLang="en-US" sz="1400" b="1">
                <a:sym typeface="+mn-ea"/>
              </a:rPr>
              <a:t>里的</a:t>
            </a:r>
            <a:r>
              <a:rPr lang="en-US" altLang="zh-CN" sz="1400" b="1">
                <a:sym typeface="+mn-ea"/>
              </a:rPr>
              <a:t>kernel</a:t>
            </a:r>
            <a:r>
              <a:rPr lang="zh-CN" altLang="en-US" sz="1400" b="1">
                <a:sym typeface="+mn-ea"/>
              </a:rPr>
              <a:t>实现</a:t>
            </a:r>
            <a:endParaRPr lang="zh-CN" altLang="en-US" sz="1400" b="1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48280" y="3868420"/>
            <a:ext cx="437578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1400" b="1">
                <a:sym typeface="+mn-ea"/>
              </a:rPr>
              <a:t>feature_lib/Fast9.cpp</a:t>
            </a:r>
            <a:r>
              <a:rPr lang="en-US" sz="1400" b="1">
                <a:sym typeface="+mn-ea"/>
              </a:rPr>
              <a:t>: </a:t>
            </a:r>
            <a:r>
              <a:rPr lang="zh-CN" sz="1400" b="1">
                <a:sym typeface="+mn-ea"/>
              </a:rPr>
              <a:t>对算子基于</a:t>
            </a:r>
            <a:r>
              <a:rPr lang="en-US" altLang="zh-CN" sz="1400" b="1">
                <a:sym typeface="+mn-ea"/>
              </a:rPr>
              <a:t>vec-c</a:t>
            </a:r>
            <a:r>
              <a:rPr lang="zh-CN" altLang="en-US" sz="1400" b="1">
                <a:sym typeface="+mn-ea"/>
              </a:rPr>
              <a:t>指令的优化实现</a:t>
            </a:r>
            <a:endParaRPr lang="zh-CN" altLang="en-US" sz="14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23709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CEVA FAST-9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算子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ping-pong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矩形-5"/>
          <p:cNvSpPr/>
          <p:nvPr/>
        </p:nvSpPr>
        <p:spPr>
          <a:xfrm>
            <a:off x="5227024" y="2454460"/>
            <a:ext cx="156989" cy="23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3365" y="861060"/>
            <a:ext cx="830453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sz="1400" b="1">
                <a:sym typeface="+mn-ea"/>
              </a:rPr>
              <a:t>Admdahl’s law</a:t>
            </a:r>
            <a:r>
              <a:rPr lang="zh-CN" sz="1400" b="1">
                <a:sym typeface="+mn-ea"/>
              </a:rPr>
              <a:t>：</a:t>
            </a:r>
            <a:r>
              <a:rPr sz="1400">
                <a:sym typeface="+mn-ea"/>
              </a:rPr>
              <a:t>程序的并行speedup </a:t>
            </a:r>
            <a:r>
              <a:rPr lang="en-US" sz="1400">
                <a:sym typeface="+mn-ea"/>
              </a:rPr>
              <a:t>= </a:t>
            </a:r>
            <a:r>
              <a:rPr sz="1400">
                <a:sym typeface="+mn-ea"/>
              </a:rPr>
              <a:t>1/[(1-f) + (f/p)]</a:t>
            </a:r>
            <a:endParaRPr lang="en-US" altLang="zh-CN" sz="14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3365" y="1275080"/>
            <a:ext cx="8304530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Ping-Pong</a:t>
            </a:r>
            <a:r>
              <a:rPr lang="zh-CN" altLang="en-US" sz="1400" b="1">
                <a:sym typeface="+mn-ea"/>
              </a:rPr>
              <a:t>模式</a:t>
            </a:r>
            <a:r>
              <a:rPr lang="en-US" altLang="zh-CN" sz="1400" b="1">
                <a:sym typeface="+mn-ea"/>
              </a:rPr>
              <a:t>speedup:</a:t>
            </a:r>
            <a:endParaRPr lang="en-US" altLang="zh-CN" sz="1400"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>
                <a:sym typeface="+mn-ea"/>
              </a:rPr>
              <a:t>r = max(DMA_delay/Work_delay, Work_delay/DMA_delay)</a:t>
            </a:r>
            <a:endParaRPr lang="en-US" altLang="zh-CN" sz="140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>
                <a:sym typeface="+mn-ea"/>
              </a:rPr>
              <a:t>speedup=1+1/r</a:t>
            </a:r>
            <a:endParaRPr lang="en-US" altLang="zh-CN" sz="14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3365" y="2365375"/>
            <a:ext cx="83045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1400" b="1">
                <a:sym typeface="+mn-ea"/>
              </a:rPr>
              <a:t>Ping-pong</a:t>
            </a:r>
            <a:r>
              <a:rPr lang="zh-CN" altLang="en-US" sz="1400" b="1">
                <a:sym typeface="+mn-ea"/>
              </a:rPr>
              <a:t>模式：</a:t>
            </a:r>
            <a:endParaRPr lang="zh-CN" altLang="en-US" sz="1400"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>
                <a:sym typeface="+mn-ea"/>
              </a:rPr>
              <a:t>1.</a:t>
            </a:r>
            <a:r>
              <a:rPr lang="zh-CN" altLang="en-US" sz="1400">
                <a:sym typeface="+mn-ea"/>
              </a:rPr>
              <a:t>切分</a:t>
            </a:r>
            <a:r>
              <a:rPr lang="en-US" altLang="zh-CN" sz="1400">
                <a:sym typeface="+mn-ea"/>
              </a:rPr>
              <a:t>tiles</a:t>
            </a:r>
            <a:endParaRPr lang="zh-CN" altLang="en-US" sz="140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>
                <a:sym typeface="+mn-ea"/>
              </a:rPr>
              <a:t>2.[fetch_1,point_1,fetch_0,point_0,(wait_point_1,process_1,store_1),fetch_1,point_1,(wait_point_0,process_0,store_0),...]</a:t>
            </a:r>
            <a:endParaRPr lang="en-US" altLang="zh-CN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646747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CEVA FAST-9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：Early stage逻辑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矩形-5"/>
          <p:cNvSpPr/>
          <p:nvPr/>
        </p:nvSpPr>
        <p:spPr>
          <a:xfrm>
            <a:off x="6737054" y="2831608"/>
            <a:ext cx="156989" cy="23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38800" y="2450465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2" imgW="914400" imgH="215900" progId="Equation.KSEE3">
                  <p:embed/>
                </p:oleObj>
              </mc:Choice>
              <mc:Fallback>
                <p:oleObj name="" r:id="rId2" imgW="9144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2450465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65" y="911225"/>
            <a:ext cx="1181100" cy="13525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715770" y="911225"/>
            <a:ext cx="685101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400" b="1">
                <a:sym typeface="+mn-ea"/>
              </a:rPr>
              <a:t>计算</a:t>
            </a:r>
            <a:r>
              <a:rPr sz="1400" b="1">
                <a:sym typeface="+mn-ea"/>
              </a:rPr>
              <a:t>4对（夹角180度，偶数编号）pixels与中心像素c的关系，判断出c是否可能是</a:t>
            </a:r>
            <a:r>
              <a:rPr lang="zh-CN" sz="1400" b="1">
                <a:sym typeface="+mn-ea"/>
              </a:rPr>
              <a:t>角</a:t>
            </a:r>
            <a:r>
              <a:rPr sz="1400" b="1">
                <a:sym typeface="+mn-ea"/>
              </a:rPr>
              <a:t>点。</a:t>
            </a:r>
            <a:endParaRPr sz="1400" b="1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540" y="1325245"/>
            <a:ext cx="3028950" cy="3524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4365" y="1677670"/>
            <a:ext cx="2781300" cy="2952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780540" y="1987550"/>
            <a:ext cx="685101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400" b="1">
                <a:sym typeface="+mn-ea"/>
              </a:rPr>
              <a:t>循环</a:t>
            </a:r>
            <a:r>
              <a:rPr lang="en-US" altLang="zh-CN" sz="1400" b="1">
                <a:sym typeface="+mn-ea"/>
              </a:rPr>
              <a:t>(row,col)</a:t>
            </a:r>
            <a:r>
              <a:rPr lang="zh-CN" altLang="en-US" sz="1400" b="1">
                <a:sym typeface="+mn-ea"/>
              </a:rPr>
              <a:t>执行</a:t>
            </a:r>
            <a:r>
              <a:rPr lang="en-US" altLang="zh-CN" sz="1400" b="1">
                <a:sym typeface="+mn-ea"/>
              </a:rPr>
              <a:t>reorder</a:t>
            </a:r>
            <a:r>
              <a:rPr lang="zh-CN" altLang="en-US" sz="1400" b="1">
                <a:sym typeface="+mn-ea"/>
              </a:rPr>
              <a:t>，</a:t>
            </a:r>
            <a:r>
              <a:rPr lang="en-US" altLang="zh-CN" sz="1400" b="1">
                <a:sym typeface="+mn-ea"/>
              </a:rPr>
              <a:t>col</a:t>
            </a:r>
            <a:r>
              <a:rPr lang="zh-CN" altLang="en-US" sz="1400" b="1">
                <a:sym typeface="+mn-ea"/>
              </a:rPr>
              <a:t>在前</a:t>
            </a:r>
            <a:r>
              <a:rPr lang="en-US" altLang="zh-CN" sz="1400" b="1">
                <a:sym typeface="+mn-ea"/>
              </a:rPr>
              <a:t>,row</a:t>
            </a:r>
            <a:r>
              <a:rPr lang="zh-CN" altLang="en-US" sz="1400" b="1">
                <a:sym typeface="+mn-ea"/>
              </a:rPr>
              <a:t>在后。</a:t>
            </a:r>
            <a:r>
              <a:rPr lang="en-US" altLang="zh-CN" sz="1400" b="1">
                <a:sym typeface="+mn-ea"/>
              </a:rPr>
              <a:t>col</a:t>
            </a:r>
            <a:r>
              <a:rPr lang="zh-CN" altLang="en-US" sz="1400" b="1">
                <a:sym typeface="+mn-ea"/>
              </a:rPr>
              <a:t>方向</a:t>
            </a:r>
            <a:r>
              <a:rPr lang="zh-CN" sz="1400" b="1">
                <a:sym typeface="+mn-ea"/>
              </a:rPr>
              <a:t>每次</a:t>
            </a:r>
            <a:r>
              <a:rPr lang="zh-CN" altLang="en-US" sz="1400" b="1">
                <a:sym typeface="+mn-ea"/>
              </a:rPr>
              <a:t>步进</a:t>
            </a:r>
            <a:r>
              <a:rPr lang="en-US" altLang="zh-CN" sz="1400" b="1">
                <a:sym typeface="+mn-ea"/>
              </a:rPr>
              <a:t>32</a:t>
            </a:r>
            <a:r>
              <a:rPr lang="zh-CN" altLang="en-US" sz="1400" b="1">
                <a:sym typeface="+mn-ea"/>
              </a:rPr>
              <a:t>，</a:t>
            </a:r>
            <a:r>
              <a:rPr lang="en-US" altLang="zh-CN" sz="1400" b="1">
                <a:sym typeface="+mn-ea"/>
              </a:rPr>
              <a:t>row</a:t>
            </a:r>
            <a:r>
              <a:rPr lang="zh-CN" altLang="en-US" sz="1400" b="1">
                <a:sym typeface="+mn-ea"/>
              </a:rPr>
              <a:t>采用</a:t>
            </a:r>
            <a:r>
              <a:rPr lang="en-US" altLang="zh-CN" sz="1400" b="1">
                <a:sym typeface="+mn-ea"/>
              </a:rPr>
              <a:t>unroll(2)</a:t>
            </a:r>
            <a:r>
              <a:rPr lang="zh-CN" altLang="en-US" sz="1400" b="1">
                <a:sym typeface="+mn-ea"/>
              </a:rPr>
              <a:t>。</a:t>
            </a:r>
            <a:endParaRPr lang="zh-CN" altLang="en-US" sz="1400" b="1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95" y="2548255"/>
            <a:ext cx="4484370" cy="30416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-635" y="2831465"/>
            <a:ext cx="900493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400" b="1" dirty="0">
                <a:sym typeface="+mn-ea"/>
              </a:rPr>
              <a:t>采用vcmpacc一次比较</a:t>
            </a:r>
            <a:r>
              <a:rPr lang="en-US" altLang="zh-CN" sz="1400" b="1" dirty="0">
                <a:sym typeface="+mn-ea"/>
              </a:rPr>
              <a:t>32</a:t>
            </a:r>
            <a:r>
              <a:rPr lang="zh-CN" altLang="en-US" sz="1400" b="1" dirty="0">
                <a:sym typeface="+mn-ea"/>
              </a:rPr>
              <a:t>对（中心与圆上）点关系。</a:t>
            </a:r>
            <a:r>
              <a:rPr lang="en-US" altLang="zh-CN" sz="1400" b="1" dirty="0">
                <a:sym typeface="+mn-ea"/>
              </a:rPr>
              <a:t>[p0,</a:t>
            </a:r>
            <a:r>
              <a:rPr lang="en-US" altLang="zh-CN" sz="1400" b="1" dirty="0" smtClean="0">
                <a:sym typeface="+mn-ea"/>
              </a:rPr>
              <a:t>p</a:t>
            </a:r>
            <a:r>
              <a:rPr lang="en-US" altLang="zh-CN" sz="1400" b="1" dirty="0">
                <a:sym typeface="+mn-ea"/>
              </a:rPr>
              <a:t>i</a:t>
            </a:r>
            <a:r>
              <a:rPr lang="en-US" altLang="zh-CN" sz="1400" b="1" dirty="0" smtClean="0">
                <a:sym typeface="+mn-ea"/>
              </a:rPr>
              <a:t>,</a:t>
            </a:r>
            <a:r>
              <a:rPr lang="en-US" altLang="zh-CN" sz="1400" b="1" dirty="0">
                <a:sym typeface="+mn-ea"/>
              </a:rPr>
              <a:t>...,p14] </a:t>
            </a:r>
            <a:r>
              <a:rPr lang="zh-CN" altLang="en-US" sz="1400" b="1" dirty="0">
                <a:sym typeface="+mn-ea"/>
              </a:rPr>
              <a:t>8点比较值</a:t>
            </a:r>
            <a:r>
              <a:rPr lang="en-US" altLang="zh-CN" sz="1400" b="1" dirty="0">
                <a:sym typeface="+mn-ea"/>
              </a:rPr>
              <a:t>(</a:t>
            </a:r>
            <a:r>
              <a:rPr lang="en-US" altLang="zh-CN" sz="1400" b="1" dirty="0" smtClean="0">
                <a:sym typeface="+mn-ea"/>
              </a:rPr>
              <a:t>0</a:t>
            </a:r>
            <a:r>
              <a:rPr lang="en-US" altLang="zh-CN" sz="1400" b="1" dirty="0">
                <a:sym typeface="+mn-ea"/>
              </a:rPr>
              <a:t>|</a:t>
            </a:r>
            <a:r>
              <a:rPr lang="en-US" altLang="zh-CN" sz="1400" b="1" dirty="0" smtClean="0">
                <a:sym typeface="+mn-ea"/>
              </a:rPr>
              <a:t>1</a:t>
            </a:r>
            <a:r>
              <a:rPr lang="en-US" altLang="zh-CN" sz="1400" b="1" dirty="0">
                <a:sym typeface="+mn-ea"/>
              </a:rPr>
              <a:t>)</a:t>
            </a:r>
            <a:r>
              <a:rPr lang="zh-CN" altLang="en-US" sz="1400" b="1" dirty="0">
                <a:sym typeface="+mn-ea"/>
              </a:rPr>
              <a:t>写入</a:t>
            </a:r>
            <a:r>
              <a:rPr lang="en-US" altLang="zh-CN" sz="1400" b="1" dirty="0" err="1" smtClean="0">
                <a:sym typeface="+mn-ea"/>
              </a:rPr>
              <a:t>u</a:t>
            </a:r>
            <a:r>
              <a:rPr lang="en-US" altLang="zh-CN" sz="1400" b="1" dirty="0" err="1" smtClean="0">
                <a:sym typeface="+mn-ea"/>
              </a:rPr>
              <a:t>char</a:t>
            </a:r>
            <a:r>
              <a:rPr lang="zh-CN" altLang="en-US" sz="1400" b="1" dirty="0" smtClean="0">
                <a:sym typeface="+mn-ea"/>
              </a:rPr>
              <a:t>类型</a:t>
            </a:r>
            <a:r>
              <a:rPr lang="en-US" altLang="zh-CN" sz="1400" b="1" dirty="0">
                <a:sym typeface="+mn-ea"/>
              </a:rPr>
              <a:t>“</a:t>
            </a:r>
            <a:r>
              <a:rPr lang="zh-CN" altLang="en-US" sz="1400" b="1" dirty="0">
                <a:sym typeface="+mn-ea"/>
              </a:rPr>
              <a:t>模式</a:t>
            </a:r>
            <a:r>
              <a:rPr lang="en-US" altLang="zh-CN" sz="1400" b="1" dirty="0" smtClean="0">
                <a:sym typeface="+mn-ea"/>
              </a:rPr>
              <a:t>”</a:t>
            </a:r>
            <a:r>
              <a:rPr lang="zh-CN" altLang="en-US" sz="1400" b="1" dirty="0" smtClean="0">
                <a:sym typeface="+mn-ea"/>
              </a:rPr>
              <a:t>的</a:t>
            </a:r>
            <a:r>
              <a:rPr lang="en-US" altLang="zh-CN" sz="1400" b="1" dirty="0" smtClean="0">
                <a:sym typeface="+mn-ea"/>
              </a:rPr>
              <a:t>(</a:t>
            </a:r>
            <a:r>
              <a:rPr lang="en-US" altLang="zh-CN" sz="1400" b="1" dirty="0" err="1" smtClean="0">
                <a:sym typeface="+mn-ea"/>
              </a:rPr>
              <a:t>i</a:t>
            </a:r>
            <a:r>
              <a:rPr lang="en-US" altLang="zh-CN" sz="1400" b="1" dirty="0" smtClean="0">
                <a:sym typeface="+mn-ea"/>
              </a:rPr>
              <a:t>/2)</a:t>
            </a:r>
            <a:r>
              <a:rPr lang="zh-CN" altLang="en-US" sz="1400" b="1" dirty="0" smtClean="0">
                <a:sym typeface="+mn-ea"/>
              </a:rPr>
              <a:t>位，</a:t>
            </a:r>
            <a:r>
              <a:rPr lang="zh-CN" altLang="en-US" sz="1400" b="1" dirty="0">
                <a:sym typeface="+mn-ea"/>
              </a:rPr>
              <a:t>输出</a:t>
            </a:r>
            <a:r>
              <a:rPr lang="en-US" altLang="zh-CN" sz="1400" b="1" dirty="0">
                <a:sym typeface="+mn-ea"/>
              </a:rPr>
              <a:t>32</a:t>
            </a:r>
            <a:r>
              <a:rPr lang="zh-CN" altLang="en-US" sz="1400" b="1" dirty="0">
                <a:sym typeface="+mn-ea"/>
              </a:rPr>
              <a:t>个</a:t>
            </a:r>
            <a:r>
              <a:rPr lang="en-US" altLang="zh-CN" sz="1400" b="1" dirty="0" err="1" smtClean="0">
                <a:sym typeface="+mn-ea"/>
              </a:rPr>
              <a:t>u</a:t>
            </a:r>
            <a:r>
              <a:rPr lang="en-US" altLang="zh-CN" sz="1400" b="1" dirty="0" err="1" smtClean="0">
                <a:sym typeface="+mn-ea"/>
              </a:rPr>
              <a:t>char</a:t>
            </a:r>
            <a:r>
              <a:rPr lang="zh-CN" altLang="en-US" sz="1400" b="1" dirty="0" smtClean="0">
                <a:sym typeface="+mn-ea"/>
              </a:rPr>
              <a:t>模式</a:t>
            </a:r>
            <a:r>
              <a:rPr lang="en-US" altLang="zh-CN" sz="1400" b="1" dirty="0" err="1">
                <a:sym typeface="+mn-ea"/>
              </a:rPr>
              <a:t>accMxx</a:t>
            </a:r>
            <a:r>
              <a:rPr lang="zh-CN" altLang="en-US" sz="1400" b="1" dirty="0">
                <a:sym typeface="+mn-ea"/>
              </a:rPr>
              <a:t>。</a:t>
            </a:r>
            <a:endParaRPr lang="zh-CN" altLang="en-US" sz="1400" b="1" dirty="0"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5665" y="2552700"/>
            <a:ext cx="4438650" cy="2952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10" y="3568700"/>
            <a:ext cx="4471670" cy="34226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2005" y="3606165"/>
            <a:ext cx="4407535" cy="3048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-635" y="3957955"/>
            <a:ext cx="900493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400" b="1" dirty="0" err="1">
                <a:sym typeface="+mn-ea"/>
              </a:rPr>
              <a:t>vunpack_lo</a:t>
            </a:r>
            <a:r>
              <a:rPr lang="en-US" altLang="zh-CN" sz="1400" b="1" dirty="0">
                <a:sym typeface="+mn-ea"/>
              </a:rPr>
              <a:t>/hi</a:t>
            </a:r>
            <a:r>
              <a:rPr lang="zh-CN" altLang="en-US" sz="1400" b="1" dirty="0">
                <a:sym typeface="+mn-ea"/>
              </a:rPr>
              <a:t>将</a:t>
            </a:r>
            <a:r>
              <a:rPr lang="en-US" altLang="zh-CN" sz="1400" b="1" dirty="0">
                <a:sym typeface="+mn-ea"/>
              </a:rPr>
              <a:t>32-way </a:t>
            </a:r>
            <a:r>
              <a:rPr lang="en-US" altLang="zh-CN" sz="1400" b="1" dirty="0" err="1">
                <a:sym typeface="+mn-ea"/>
              </a:rPr>
              <a:t>accMxx</a:t>
            </a:r>
            <a:r>
              <a:rPr lang="zh-CN" altLang="en-US" sz="1400" b="1" dirty="0">
                <a:sym typeface="+mn-ea"/>
              </a:rPr>
              <a:t>分成两个</a:t>
            </a:r>
            <a:r>
              <a:rPr lang="en-US" altLang="zh-CN" sz="1400" b="1" dirty="0">
                <a:sym typeface="+mn-ea"/>
              </a:rPr>
              <a:t>16-way</a:t>
            </a:r>
            <a:r>
              <a:rPr lang="zh-CN" altLang="en-US" sz="1400" b="1" dirty="0">
                <a:sym typeface="+mn-ea"/>
              </a:rPr>
              <a:t>的</a:t>
            </a:r>
            <a:r>
              <a:rPr lang="en-US" altLang="zh-CN" sz="1400" b="1" dirty="0">
                <a:sym typeface="+mn-ea"/>
              </a:rPr>
              <a:t>(</a:t>
            </a:r>
            <a:r>
              <a:rPr lang="en-US" altLang="zh-CN" sz="1400" b="1" dirty="0" err="1">
                <a:sym typeface="+mn-ea"/>
              </a:rPr>
              <a:t>xxLo,xxHi</a:t>
            </a:r>
            <a:r>
              <a:rPr lang="en-US" altLang="zh-CN" sz="1400" b="1" dirty="0">
                <a:sym typeface="+mn-ea"/>
              </a:rPr>
              <a:t>) </a:t>
            </a:r>
            <a:r>
              <a:rPr lang="en-US" altLang="zh-CN" sz="1400" b="1" dirty="0" err="1" smtClean="0">
                <a:sym typeface="+mn-ea"/>
              </a:rPr>
              <a:t>u</a:t>
            </a:r>
            <a:r>
              <a:rPr lang="en-US" altLang="zh-CN" sz="1400" b="1" dirty="0" err="1" smtClean="0">
                <a:sym typeface="+mn-ea"/>
              </a:rPr>
              <a:t>char</a:t>
            </a:r>
            <a:r>
              <a:rPr lang="zh-CN" altLang="en-US" sz="1400" b="1" dirty="0" smtClean="0">
                <a:sym typeface="+mn-ea"/>
              </a:rPr>
              <a:t>模式</a:t>
            </a:r>
            <a:r>
              <a:rPr lang="en-US" altLang="zh-CN" sz="1400" b="1" dirty="0" smtClean="0">
                <a:sym typeface="+mn-ea"/>
              </a:rPr>
              <a:t> </a:t>
            </a:r>
            <a:r>
              <a:rPr lang="zh-CN" altLang="en-US" sz="1400" b="1" dirty="0">
                <a:sym typeface="+mn-ea"/>
              </a:rPr>
              <a:t>，将</a:t>
            </a:r>
            <a:r>
              <a:rPr lang="en-US" altLang="zh-CN" sz="1400" b="1" dirty="0" err="1">
                <a:sym typeface="+mn-ea"/>
              </a:rPr>
              <a:t>xxLo</a:t>
            </a:r>
            <a:r>
              <a:rPr lang="zh-CN" altLang="en-US" sz="1400" b="1" dirty="0">
                <a:sym typeface="+mn-ea"/>
              </a:rPr>
              <a:t>或</a:t>
            </a:r>
            <a:r>
              <a:rPr lang="en-US" altLang="zh-CN" sz="1400" b="1" dirty="0" err="1">
                <a:sym typeface="+mn-ea"/>
              </a:rPr>
              <a:t>xxHi</a:t>
            </a:r>
            <a:r>
              <a:rPr lang="zh-CN" altLang="en-US" sz="1400" b="1" dirty="0">
                <a:sym typeface="+mn-ea"/>
              </a:rPr>
              <a:t>作为索引查</a:t>
            </a:r>
            <a:r>
              <a:rPr lang="en-US" altLang="zh-CN" sz="1400" b="1" dirty="0">
                <a:sym typeface="+mn-ea"/>
              </a:rPr>
              <a:t>LUT</a:t>
            </a:r>
            <a:r>
              <a:rPr lang="zh-CN" altLang="en-US" sz="1400" b="1" dirty="0">
                <a:sym typeface="+mn-ea"/>
              </a:rPr>
              <a:t>表返回</a:t>
            </a:r>
            <a:r>
              <a:rPr lang="en-US" altLang="zh-CN" sz="1400" b="1" dirty="0">
                <a:sym typeface="+mn-ea"/>
              </a:rPr>
              <a:t>16-way</a:t>
            </a:r>
            <a:r>
              <a:rPr lang="zh-CN" altLang="en-US" sz="1400" b="1" dirty="0">
                <a:sym typeface="+mn-ea"/>
              </a:rPr>
              <a:t>是否可能为角点的判断。</a:t>
            </a:r>
            <a:endParaRPr lang="en-US" altLang="zh-CN" sz="14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矩形-5"/>
          <p:cNvSpPr/>
          <p:nvPr/>
        </p:nvSpPr>
        <p:spPr>
          <a:xfrm>
            <a:off x="5213054" y="2844943"/>
            <a:ext cx="156989" cy="23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246380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name="" r:id="rId2" imgW="914400" imgH="215900" progId="Equation.KSEE3">
                  <p:embed/>
                </p:oleObj>
              </mc:Choice>
              <mc:Fallback>
                <p:oleObj name="" r:id="rId2" imgW="9144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14800" y="246380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56602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CEVA FAST-9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：Early stage 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LUT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428" y="2178050"/>
            <a:ext cx="5266055" cy="2225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253365" y="1022985"/>
            <a:ext cx="782955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1400" b="1" dirty="0">
                <a:sym typeface="+mn-ea"/>
              </a:rPr>
              <a:t>1</a:t>
            </a:r>
            <a:r>
              <a:rPr lang="zh-CN" altLang="en-US" sz="1400" b="1" dirty="0">
                <a:sym typeface="+mn-ea"/>
              </a:rPr>
              <a:t>、</a:t>
            </a:r>
            <a:r>
              <a:rPr lang="en-US" sz="1400" b="1" dirty="0" err="1" smtClean="0">
                <a:sym typeface="+mn-ea"/>
              </a:rPr>
              <a:t>u</a:t>
            </a:r>
            <a:r>
              <a:rPr lang="en-US" sz="1400" b="1" dirty="0" err="1" smtClean="0">
                <a:sym typeface="+mn-ea"/>
              </a:rPr>
              <a:t>char</a:t>
            </a:r>
            <a:r>
              <a:rPr lang="zh-CN" altLang="en-US" sz="1400" b="1" dirty="0" smtClean="0">
                <a:sym typeface="+mn-ea"/>
              </a:rPr>
              <a:t>模式的取值范围</a:t>
            </a:r>
            <a:r>
              <a:rPr lang="en-US" altLang="zh-CN" sz="1400" b="1" dirty="0">
                <a:sym typeface="+mn-ea"/>
              </a:rPr>
              <a:t>[0,255]</a:t>
            </a:r>
            <a:r>
              <a:rPr lang="zh-CN" altLang="en-US" sz="1400" b="1" dirty="0">
                <a:sym typeface="+mn-ea"/>
              </a:rPr>
              <a:t>，</a:t>
            </a:r>
            <a:r>
              <a:rPr lang="en-US" altLang="zh-CN" sz="1400" b="1" dirty="0">
                <a:sym typeface="+mn-ea"/>
              </a:rPr>
              <a:t>1-way LUT</a:t>
            </a:r>
            <a:r>
              <a:rPr lang="zh-CN" altLang="en-US" sz="1400" b="1" dirty="0">
                <a:sym typeface="+mn-ea"/>
              </a:rPr>
              <a:t>长度设计成</a:t>
            </a:r>
            <a:r>
              <a:rPr lang="en-US" altLang="zh-CN" sz="1400" b="1" dirty="0">
                <a:sym typeface="+mn-ea"/>
              </a:rPr>
              <a:t>256</a:t>
            </a:r>
            <a:r>
              <a:rPr sz="1400" b="1" dirty="0">
                <a:sym typeface="+mn-ea"/>
              </a:rPr>
              <a:t>。</a:t>
            </a:r>
            <a:r>
              <a:rPr lang="en-US" altLang="zh-CN" sz="1400" b="1" dirty="0">
                <a:sym typeface="+mn-ea"/>
              </a:rPr>
              <a:t>xxLo</a:t>
            </a:r>
            <a:r>
              <a:rPr lang="zh-CN" altLang="en-US" sz="1400" b="1" dirty="0">
                <a:sym typeface="+mn-ea"/>
              </a:rPr>
              <a:t>、</a:t>
            </a:r>
            <a:r>
              <a:rPr lang="en-US" altLang="zh-CN" sz="1400" b="1" dirty="0" err="1">
                <a:sym typeface="+mn-ea"/>
              </a:rPr>
              <a:t>xxHi</a:t>
            </a:r>
            <a:r>
              <a:rPr lang="zh-CN" altLang="en-US" sz="1400" b="1" dirty="0">
                <a:sym typeface="+mn-ea"/>
              </a:rPr>
              <a:t>查询共享</a:t>
            </a:r>
            <a:r>
              <a:rPr lang="en-US" altLang="zh-CN" sz="1400" b="1" dirty="0">
                <a:sym typeface="+mn-ea"/>
              </a:rPr>
              <a:t>1</a:t>
            </a:r>
            <a:r>
              <a:rPr lang="zh-CN" altLang="en-US" sz="1400" b="1" dirty="0">
                <a:sym typeface="+mn-ea"/>
              </a:rPr>
              <a:t>个</a:t>
            </a:r>
            <a:r>
              <a:rPr lang="en-US" altLang="zh-CN" sz="1400" b="1" dirty="0">
                <a:sym typeface="+mn-ea"/>
              </a:rPr>
              <a:t>LUT</a:t>
            </a:r>
            <a:r>
              <a:rPr lang="zh-CN" altLang="en-US" sz="1400" b="1" dirty="0">
                <a:sym typeface="+mn-ea"/>
              </a:rPr>
              <a:t>。</a:t>
            </a:r>
            <a:endParaRPr lang="zh-CN" altLang="en-US" sz="1400" b="1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 dirty="0">
                <a:sym typeface="+mn-ea"/>
              </a:rPr>
              <a:t>2</a:t>
            </a:r>
            <a:r>
              <a:rPr lang="zh-CN" altLang="en-US" sz="1400" b="1" dirty="0">
                <a:sym typeface="+mn-ea"/>
              </a:rPr>
              <a:t>、查询</a:t>
            </a:r>
            <a:r>
              <a:rPr lang="en-US" altLang="zh-CN" sz="1400" b="1" dirty="0">
                <a:sym typeface="+mn-ea"/>
              </a:rPr>
              <a:t>LUT</a:t>
            </a:r>
            <a:r>
              <a:rPr lang="zh-CN" altLang="en-US" sz="1400" b="1" dirty="0">
                <a:sym typeface="+mn-ea"/>
              </a:rPr>
              <a:t>采用</a:t>
            </a:r>
            <a:r>
              <a:rPr lang="en-US" altLang="zh-CN" sz="1400" b="1" dirty="0" err="1">
                <a:sym typeface="+mn-ea"/>
              </a:rPr>
              <a:t>vpld</a:t>
            </a:r>
            <a:r>
              <a:rPr lang="en-US" altLang="zh-CN" sz="1400" b="1" dirty="0">
                <a:sym typeface="+mn-ea"/>
              </a:rPr>
              <a:t> relative</a:t>
            </a:r>
            <a:r>
              <a:rPr lang="zh-CN" altLang="en-US" sz="1400" b="1" dirty="0">
                <a:sym typeface="+mn-ea"/>
              </a:rPr>
              <a:t>模式，</a:t>
            </a:r>
            <a:r>
              <a:rPr lang="en-US" altLang="zh-CN" sz="1400" b="1" dirty="0">
                <a:sym typeface="+mn-ea"/>
              </a:rPr>
              <a:t>16-way </a:t>
            </a:r>
            <a:r>
              <a:rPr lang="en-US" altLang="zh-CN" sz="1400" b="1" dirty="0" err="1">
                <a:sym typeface="+mn-ea"/>
              </a:rPr>
              <a:t>xxLo</a:t>
            </a:r>
            <a:r>
              <a:rPr lang="zh-CN" altLang="en-US" sz="1400" b="1" dirty="0">
                <a:sym typeface="+mn-ea"/>
              </a:rPr>
              <a:t>或</a:t>
            </a:r>
            <a:r>
              <a:rPr lang="en-US" altLang="zh-CN" sz="1400" b="1" dirty="0" err="1">
                <a:sym typeface="+mn-ea"/>
              </a:rPr>
              <a:t>xxHi</a:t>
            </a:r>
            <a:r>
              <a:rPr lang="zh-CN" altLang="en-US" sz="1400" b="1" dirty="0">
                <a:sym typeface="+mn-ea"/>
              </a:rPr>
              <a:t>一次查询。</a:t>
            </a:r>
            <a:endParaRPr lang="zh-CN" altLang="en-US" sz="1400" b="1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 dirty="0">
                <a:sym typeface="+mn-ea"/>
              </a:rPr>
              <a:t>3</a:t>
            </a:r>
            <a:r>
              <a:rPr lang="zh-CN" altLang="en-US" sz="1400" b="1" dirty="0">
                <a:sym typeface="+mn-ea"/>
              </a:rPr>
              <a:t>、支持</a:t>
            </a:r>
            <a:r>
              <a:rPr lang="en-US" altLang="zh-CN" sz="1400" b="1" dirty="0">
                <a:sym typeface="+mn-ea"/>
              </a:rPr>
              <a:t>16-way</a:t>
            </a:r>
            <a:r>
              <a:rPr lang="zh-CN" altLang="en-US" sz="1400" b="1" dirty="0">
                <a:sym typeface="+mn-ea"/>
              </a:rPr>
              <a:t>查询，</a:t>
            </a:r>
            <a:r>
              <a:rPr lang="en-US" altLang="zh-CN" sz="1400" b="1" dirty="0">
                <a:sym typeface="+mn-ea"/>
              </a:rPr>
              <a:t>LUT </a:t>
            </a:r>
            <a:r>
              <a:rPr lang="zh-CN" altLang="en-US" sz="1400" b="1" dirty="0">
                <a:sym typeface="+mn-ea"/>
              </a:rPr>
              <a:t>设计成</a:t>
            </a:r>
            <a:r>
              <a:rPr lang="en-US" altLang="zh-CN" sz="1400" b="1" dirty="0">
                <a:sym typeface="+mn-ea"/>
              </a:rPr>
              <a:t>16x256</a:t>
            </a:r>
            <a:r>
              <a:rPr lang="zh-CN" altLang="en-US" sz="1400" b="1" dirty="0">
                <a:sym typeface="+mn-ea"/>
              </a:rPr>
              <a:t>。</a:t>
            </a:r>
            <a:r>
              <a:rPr lang="en-US" altLang="zh-CN" sz="1400" b="1" dirty="0">
                <a:sym typeface="+mn-ea"/>
              </a:rPr>
              <a:t>LUT </a:t>
            </a:r>
            <a:r>
              <a:rPr lang="zh-CN" altLang="en-US" sz="1400" b="1" dirty="0">
                <a:sym typeface="+mn-ea"/>
              </a:rPr>
              <a:t>要求</a:t>
            </a:r>
            <a:r>
              <a:rPr lang="en-US" altLang="zh-CN" sz="1400" b="1" dirty="0">
                <a:sym typeface="+mn-ea"/>
              </a:rPr>
              <a:t>64-bytes</a:t>
            </a:r>
            <a:r>
              <a:rPr lang="zh-CN" altLang="en-US" sz="1400" b="1" dirty="0">
                <a:sym typeface="+mn-ea"/>
              </a:rPr>
              <a:t>对齐，内存布局上</a:t>
            </a:r>
            <a:r>
              <a:rPr lang="en-US" altLang="zh-CN" sz="1400" b="1" dirty="0">
                <a:sym typeface="+mn-ea"/>
              </a:rPr>
              <a:t>way-n</a:t>
            </a:r>
            <a:r>
              <a:rPr lang="zh-CN" altLang="en-US" sz="1400" b="1" dirty="0">
                <a:sym typeface="+mn-ea"/>
              </a:rPr>
              <a:t>存在</a:t>
            </a:r>
            <a:r>
              <a:rPr lang="en-US" altLang="zh-CN" sz="1400" b="1" dirty="0">
                <a:sym typeface="+mn-ea"/>
              </a:rPr>
              <a:t>bank-n</a:t>
            </a:r>
            <a:r>
              <a:rPr lang="zh-CN" altLang="en-US" sz="1400" b="1" dirty="0">
                <a:sym typeface="+mn-ea"/>
              </a:rPr>
              <a:t>下，</a:t>
            </a:r>
            <a:r>
              <a:rPr lang="en-US" altLang="zh-CN" sz="1400" b="1" dirty="0">
                <a:sym typeface="+mn-ea"/>
              </a:rPr>
              <a:t>shape</a:t>
            </a:r>
            <a:r>
              <a:rPr lang="zh-CN" altLang="en-US" sz="1400" b="1" dirty="0">
                <a:sym typeface="+mn-ea"/>
              </a:rPr>
              <a:t>为（</a:t>
            </a:r>
            <a:r>
              <a:rPr lang="en-US" altLang="zh-CN" sz="1400" b="1" dirty="0">
                <a:sym typeface="+mn-ea"/>
              </a:rPr>
              <a:t>64,4</a:t>
            </a:r>
            <a:r>
              <a:rPr lang="zh-CN" altLang="en-US" sz="1400" b="1" dirty="0">
                <a:sym typeface="+mn-ea"/>
              </a:rPr>
              <a:t>）。</a:t>
            </a:r>
            <a:endParaRPr lang="en-US" altLang="zh-CN" sz="1400" b="1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30" y="882650"/>
            <a:ext cx="4543425" cy="1428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0965" y="2609850"/>
            <a:ext cx="233680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b="1" dirty="0"/>
              <a:t>*</a:t>
            </a:r>
            <a:r>
              <a:rPr lang="zh-CN" altLang="en-US" sz="1400" b="1" dirty="0"/>
              <a:t>思考：如何离线生成</a:t>
            </a:r>
            <a:r>
              <a:rPr lang="en-US" altLang="zh-CN" sz="1400" b="1" dirty="0"/>
              <a:t>LUT</a:t>
            </a:r>
            <a:r>
              <a:rPr lang="zh-CN" altLang="en-US" sz="1400" b="1" dirty="0"/>
              <a:t>？</a:t>
            </a:r>
            <a:endParaRPr lang="zh-CN" alt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56602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CEVA FAST-9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：Early stage</a:t>
            </a: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3365" y="836295"/>
            <a:ext cx="782955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400" b="1" dirty="0">
                <a:sym typeface="+mn-ea"/>
              </a:rPr>
              <a:t>*CEVA</a:t>
            </a:r>
            <a:r>
              <a:rPr lang="zh-CN" altLang="en-US" sz="1400" b="1" dirty="0">
                <a:sym typeface="+mn-ea"/>
              </a:rPr>
              <a:t>上</a:t>
            </a:r>
            <a:r>
              <a:rPr lang="en-US" altLang="zh-CN" sz="1400" b="1" dirty="0">
                <a:sym typeface="+mn-ea"/>
              </a:rPr>
              <a:t>FAST-9</a:t>
            </a:r>
            <a:r>
              <a:rPr lang="zh-CN" altLang="en-US" sz="1400" b="1" dirty="0">
                <a:sym typeface="+mn-ea"/>
              </a:rPr>
              <a:t>算子将</a:t>
            </a:r>
            <a:r>
              <a:rPr lang="en-US" altLang="zh-CN" sz="1400" b="1" dirty="0">
                <a:sym typeface="+mn-ea"/>
              </a:rPr>
              <a:t>Early stage</a:t>
            </a:r>
            <a:r>
              <a:rPr lang="zh-CN" altLang="en-US" sz="1400" b="1" dirty="0">
                <a:sym typeface="+mn-ea"/>
              </a:rPr>
              <a:t>和</a:t>
            </a:r>
            <a:r>
              <a:rPr lang="en-US" altLang="zh-CN" sz="1400" b="1" dirty="0">
                <a:sym typeface="+mn-ea"/>
              </a:rPr>
              <a:t>detector stage</a:t>
            </a:r>
            <a:r>
              <a:rPr lang="zh-CN" altLang="en-US" sz="1400" b="1" dirty="0">
                <a:sym typeface="+mn-ea"/>
              </a:rPr>
              <a:t>分开，不同于</a:t>
            </a:r>
            <a:r>
              <a:rPr lang="en-US" altLang="zh-CN" sz="1400" b="1" dirty="0" err="1">
                <a:sym typeface="+mn-ea"/>
              </a:rPr>
              <a:t>Opencv</a:t>
            </a:r>
            <a:r>
              <a:rPr lang="zh-CN" altLang="en-US" sz="1400" b="1" dirty="0">
                <a:sym typeface="+mn-ea"/>
              </a:rPr>
              <a:t>统一在</a:t>
            </a:r>
            <a:r>
              <a:rPr lang="en-US" altLang="zh-CN" sz="1400" b="1" dirty="0">
                <a:sym typeface="+mn-ea"/>
              </a:rPr>
              <a:t>1</a:t>
            </a:r>
            <a:r>
              <a:rPr lang="zh-CN" altLang="en-US" sz="1400" b="1" dirty="0">
                <a:sym typeface="+mn-ea"/>
              </a:rPr>
              <a:t>个大循环下。</a:t>
            </a:r>
            <a:endParaRPr lang="zh-CN" altLang="en-US" sz="1400" b="1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5120" y="2388870"/>
            <a:ext cx="782955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sz="1400" b="1">
                <a:sym typeface="+mn-ea"/>
              </a:rPr>
              <a:t>Early-stage输出两个for-next-stage变量：passed</a:t>
            </a:r>
            <a:r>
              <a:rPr lang="zh-CN" sz="1400" b="1">
                <a:sym typeface="+mn-ea"/>
              </a:rPr>
              <a:t>和p_u32Temp。</a:t>
            </a:r>
            <a:endParaRPr lang="zh-CN" sz="1400" b="1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10005"/>
            <a:ext cx="2733675" cy="381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31210" y="1276985"/>
            <a:ext cx="310832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1400" b="1">
                <a:sym typeface="+mn-ea"/>
              </a:rPr>
              <a:t>vpack</a:t>
            </a:r>
            <a:r>
              <a:rPr lang="zh-CN" altLang="en-US" sz="1400" b="1">
                <a:sym typeface="+mn-ea"/>
              </a:rPr>
              <a:t>合并两个</a:t>
            </a:r>
            <a:r>
              <a:rPr lang="en-US" altLang="zh-CN" sz="1400" b="1">
                <a:sym typeface="+mn-ea"/>
              </a:rPr>
              <a:t>16-way</a:t>
            </a:r>
            <a:r>
              <a:rPr lang="zh-CN" altLang="en-US" sz="1400" b="1">
                <a:sym typeface="+mn-ea"/>
              </a:rPr>
              <a:t>结果为</a:t>
            </a:r>
            <a:r>
              <a:rPr lang="en-US" altLang="zh-CN" sz="1400" b="1">
                <a:sym typeface="+mn-ea"/>
              </a:rPr>
              <a:t>32-way</a:t>
            </a:r>
            <a:r>
              <a:rPr lang="zh-CN" altLang="en-US" sz="1400" b="1">
                <a:sym typeface="+mn-ea"/>
              </a:rPr>
              <a:t>。</a:t>
            </a:r>
            <a:endParaRPr lang="zh-CN" altLang="en-US" sz="1400" b="1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80" y="1793875"/>
            <a:ext cx="2428875" cy="1619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385" y="1793875"/>
            <a:ext cx="3531870" cy="1676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80670" y="1969135"/>
            <a:ext cx="830453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400" b="1" dirty="0">
                <a:sym typeface="+mn-ea"/>
              </a:rPr>
              <a:t>*</a:t>
            </a:r>
            <a:r>
              <a:rPr lang="en-US" altLang="zh-CN" sz="1400" b="1" dirty="0" err="1">
                <a:sym typeface="+mn-ea"/>
              </a:rPr>
              <a:t>vcmp</a:t>
            </a:r>
            <a:r>
              <a:rPr lang="zh-CN" altLang="en-US" sz="1400" b="1" dirty="0">
                <a:sym typeface="+mn-ea"/>
              </a:rPr>
              <a:t>结果</a:t>
            </a:r>
            <a:r>
              <a:rPr lang="en-US" altLang="zh-CN" sz="1400" b="1" dirty="0">
                <a:sym typeface="+mn-ea"/>
              </a:rPr>
              <a:t>(32-bit </a:t>
            </a:r>
            <a:r>
              <a:rPr lang="en-US" altLang="zh-CN" sz="1400" b="1" dirty="0" err="1">
                <a:sym typeface="+mn-ea"/>
              </a:rPr>
              <a:t>uint</a:t>
            </a:r>
            <a:r>
              <a:rPr lang="en-US" altLang="zh-CN" sz="1400" b="1" dirty="0">
                <a:sym typeface="+mn-ea"/>
              </a:rPr>
              <a:t>)</a:t>
            </a:r>
            <a:r>
              <a:rPr lang="zh-CN" altLang="en-US" sz="1400" b="1" dirty="0">
                <a:sym typeface="+mn-ea"/>
              </a:rPr>
              <a:t>存入</a:t>
            </a:r>
            <a:r>
              <a:rPr lang="en-US" altLang="zh-CN" sz="1400" b="1" dirty="0">
                <a:sym typeface="+mn-ea"/>
              </a:rPr>
              <a:t>VPR</a:t>
            </a:r>
            <a:r>
              <a:rPr lang="zh-CN" altLang="en-US" sz="1400" b="1" dirty="0">
                <a:sym typeface="+mn-ea"/>
              </a:rPr>
              <a:t>，故命名</a:t>
            </a:r>
            <a:r>
              <a:rPr lang="en-US" altLang="zh-CN" sz="1400" b="1" dirty="0" err="1">
                <a:sym typeface="+mn-ea"/>
              </a:rPr>
              <a:t>vprCorner</a:t>
            </a:r>
            <a:r>
              <a:rPr lang="zh-CN" altLang="en-US" sz="1400" b="1" dirty="0">
                <a:sym typeface="+mn-ea"/>
              </a:rPr>
              <a:t>。</a:t>
            </a:r>
            <a:r>
              <a:rPr lang="en-US" altLang="zh-CN" sz="1400" b="1" dirty="0" err="1">
                <a:sym typeface="+mn-ea"/>
              </a:rPr>
              <a:t>vprCorner</a:t>
            </a:r>
            <a:r>
              <a:rPr lang="zh-CN" altLang="en-US" sz="1400" b="1" dirty="0">
                <a:sym typeface="+mn-ea"/>
              </a:rPr>
              <a:t>为</a:t>
            </a:r>
            <a:r>
              <a:rPr lang="en-US" altLang="zh-CN" sz="1400" b="1" dirty="0">
                <a:sym typeface="+mn-ea"/>
              </a:rPr>
              <a:t>1</a:t>
            </a:r>
            <a:r>
              <a:rPr lang="zh-CN" altLang="en-US" sz="1400" b="1" dirty="0">
                <a:sym typeface="+mn-ea"/>
              </a:rPr>
              <a:t>的</a:t>
            </a:r>
            <a:r>
              <a:rPr lang="en-US" altLang="zh-CN" sz="1400" b="1" dirty="0">
                <a:sym typeface="+mn-ea"/>
              </a:rPr>
              <a:t>bit</a:t>
            </a:r>
            <a:r>
              <a:rPr lang="zh-CN" altLang="en-US" sz="1400" b="1" dirty="0">
                <a:sym typeface="+mn-ea"/>
              </a:rPr>
              <a:t>位表示对应的点可能为角点。</a:t>
            </a:r>
            <a:endParaRPr lang="en-US" altLang="zh-CN" sz="1400" b="1" dirty="0"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80" y="2894330"/>
            <a:ext cx="1333500" cy="6477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825625" y="3064510"/>
            <a:ext cx="624776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sz="1400" b="1">
                <a:sym typeface="+mn-ea"/>
              </a:rPr>
              <a:t>passed</a:t>
            </a:r>
            <a:r>
              <a:rPr lang="zh-CN" sz="1400" b="1">
                <a:sym typeface="+mn-ea"/>
              </a:rPr>
              <a:t>：</a:t>
            </a:r>
            <a:r>
              <a:rPr lang="en-US" altLang="zh-CN" sz="1400" b="1">
                <a:sym typeface="+mn-ea"/>
              </a:rPr>
              <a:t>32-way</a:t>
            </a:r>
            <a:r>
              <a:rPr lang="zh-CN" altLang="en-US" sz="1400" b="1">
                <a:sym typeface="+mn-ea"/>
              </a:rPr>
              <a:t>点（沿</a:t>
            </a:r>
            <a:r>
              <a:rPr lang="en-US" altLang="zh-CN" sz="1400" b="1">
                <a:sym typeface="+mn-ea"/>
              </a:rPr>
              <a:t>col</a:t>
            </a:r>
            <a:r>
              <a:rPr lang="zh-CN" altLang="en-US" sz="1400" b="1">
                <a:sym typeface="+mn-ea"/>
              </a:rPr>
              <a:t>方向一次处理）中至少有</a:t>
            </a:r>
            <a:r>
              <a:rPr lang="en-US" altLang="zh-CN" sz="1400" b="1">
                <a:sym typeface="+mn-ea"/>
              </a:rPr>
              <a:t>1</a:t>
            </a:r>
            <a:r>
              <a:rPr lang="zh-CN" altLang="en-US" sz="1400" b="1">
                <a:sym typeface="+mn-ea"/>
              </a:rPr>
              <a:t>个可能是角点，</a:t>
            </a:r>
            <a:r>
              <a:rPr lang="en-US" altLang="zh-CN" sz="1400" b="1">
                <a:sym typeface="+mn-ea"/>
              </a:rPr>
              <a:t>passed</a:t>
            </a:r>
            <a:r>
              <a:rPr lang="zh-CN" altLang="en-US" sz="1400" b="1">
                <a:sym typeface="+mn-ea"/>
              </a:rPr>
              <a:t>增</a:t>
            </a:r>
            <a:r>
              <a:rPr lang="en-US" altLang="zh-CN" sz="1400" b="1">
                <a:sym typeface="+mn-ea"/>
              </a:rPr>
              <a:t>1</a:t>
            </a:r>
            <a:endParaRPr lang="en-US" altLang="zh-CN" sz="1400" b="1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65125" y="4178300"/>
            <a:ext cx="745426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1"/>
              <a:t>p_u32Temp</a:t>
            </a:r>
            <a:r>
              <a:rPr lang="en-US" sz="1400" b="1"/>
              <a:t>:</a:t>
            </a:r>
            <a:r>
              <a:rPr sz="1400" b="1"/>
              <a:t>passed长，每一个element记录存在vprCorner的</a:t>
            </a:r>
            <a:r>
              <a:rPr lang="en-US" sz="1400" b="1"/>
              <a:t>row*u32Stride + col</a:t>
            </a:r>
            <a:r>
              <a:rPr sz="1400" b="1"/>
              <a:t>。</a:t>
            </a:r>
            <a:endParaRPr sz="1400" b="1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180" y="3607435"/>
            <a:ext cx="3200400" cy="2000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180" y="3882390"/>
            <a:ext cx="1219200" cy="1524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5625" y="3848735"/>
            <a:ext cx="1381125" cy="219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56602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CEVA FAST-9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角点检测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endParaRPr 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" y="911225"/>
            <a:ext cx="1181100" cy="13525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843558"/>
            <a:ext cx="3312368" cy="47651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1275606"/>
            <a:ext cx="3096344" cy="19694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752" y="1491630"/>
            <a:ext cx="2664296" cy="42860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9751" y="1923678"/>
            <a:ext cx="5040561" cy="203889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9752" y="2139703"/>
            <a:ext cx="4968552" cy="222124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07504" y="2318221"/>
            <a:ext cx="8304530" cy="397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400" b="1" dirty="0" smtClean="0">
                <a:sym typeface="+mn-ea"/>
              </a:rPr>
              <a:t>32-</a:t>
            </a:r>
            <a:r>
              <a:rPr lang="en-US" altLang="zh-CN" sz="1400" b="1" dirty="0" smtClean="0">
                <a:sym typeface="+mn-ea"/>
              </a:rPr>
              <a:t>way</a:t>
            </a:r>
            <a:r>
              <a:rPr lang="en-US" altLang="zh-CN" sz="1400" b="1" dirty="0" smtClean="0">
                <a:sym typeface="+mn-ea"/>
              </a:rPr>
              <a:t> </a:t>
            </a:r>
            <a:r>
              <a:rPr lang="zh-CN" altLang="en-US" sz="1400" b="1" dirty="0" smtClean="0">
                <a:sym typeface="+mn-ea"/>
              </a:rPr>
              <a:t>并行比较</a:t>
            </a:r>
            <a:r>
              <a:rPr lang="en-US" altLang="zh-CN" sz="1400" b="1" dirty="0" err="1" smtClean="0">
                <a:sym typeface="+mn-ea"/>
              </a:rPr>
              <a:t>vcmpacc</a:t>
            </a:r>
            <a:r>
              <a:rPr lang="zh-CN" altLang="en-US" sz="1400" b="1" dirty="0" smtClean="0">
                <a:sym typeface="+mn-ea"/>
              </a:rPr>
              <a:t>，</a:t>
            </a:r>
            <a:r>
              <a:rPr lang="zh-CN" altLang="en-US" sz="1400" b="1" dirty="0" smtClean="0">
                <a:sym typeface="+mn-ea"/>
              </a:rPr>
              <a:t>周边像素</a:t>
            </a:r>
            <a:r>
              <a:rPr lang="en-US" altLang="zh-CN" sz="1400" b="1" dirty="0" err="1" smtClean="0">
                <a:sym typeface="+mn-ea"/>
              </a:rPr>
              <a:t>i</a:t>
            </a:r>
            <a:r>
              <a:rPr lang="zh-CN" altLang="en-US" sz="1400" b="1" dirty="0" smtClean="0">
                <a:sym typeface="+mn-ea"/>
              </a:rPr>
              <a:t>跟中心的比较值</a:t>
            </a:r>
            <a:r>
              <a:rPr lang="en-US" altLang="zh-CN" sz="1400" b="1" dirty="0" smtClean="0">
                <a:sym typeface="+mn-ea"/>
              </a:rPr>
              <a:t>(0|1)</a:t>
            </a:r>
            <a:r>
              <a:rPr lang="zh-CN" altLang="en-US" sz="1400" b="1" dirty="0" smtClean="0">
                <a:sym typeface="+mn-ea"/>
              </a:rPr>
              <a:t>赋</a:t>
            </a:r>
            <a:r>
              <a:rPr lang="en-US" altLang="zh-CN" sz="1400" b="1" dirty="0" err="1" smtClean="0">
                <a:sym typeface="+mn-ea"/>
              </a:rPr>
              <a:t>ushort</a:t>
            </a:r>
            <a:r>
              <a:rPr lang="zh-CN" altLang="en-US" sz="1400" b="1" dirty="0" smtClean="0">
                <a:sym typeface="+mn-ea"/>
              </a:rPr>
              <a:t>类型</a:t>
            </a:r>
            <a:r>
              <a:rPr lang="en-US" altLang="zh-CN" sz="1400" b="1" dirty="0" smtClean="0">
                <a:sym typeface="+mn-ea"/>
              </a:rPr>
              <a:t>“</a:t>
            </a:r>
            <a:r>
              <a:rPr lang="zh-CN" altLang="en-US" sz="1400" b="1" dirty="0" smtClean="0">
                <a:sym typeface="+mn-ea"/>
              </a:rPr>
              <a:t>模式</a:t>
            </a:r>
            <a:r>
              <a:rPr lang="en-US" altLang="zh-CN" sz="1400" b="1" dirty="0" smtClean="0">
                <a:sym typeface="+mn-ea"/>
              </a:rPr>
              <a:t>”</a:t>
            </a:r>
            <a:r>
              <a:rPr lang="zh-CN" altLang="en-US" sz="1400" b="1" dirty="0" smtClean="0">
                <a:sym typeface="+mn-ea"/>
              </a:rPr>
              <a:t>的</a:t>
            </a:r>
            <a:r>
              <a:rPr lang="en-US" altLang="zh-CN" sz="1400" b="1" dirty="0" err="1" smtClean="0">
                <a:sym typeface="+mn-ea"/>
              </a:rPr>
              <a:t>i</a:t>
            </a:r>
            <a:r>
              <a:rPr lang="zh-CN" altLang="en-US" sz="1400" b="1" dirty="0" smtClean="0">
                <a:sym typeface="+mn-ea"/>
              </a:rPr>
              <a:t>位</a:t>
            </a:r>
            <a:r>
              <a:rPr lang="zh-CN" altLang="en-US" sz="1400" b="1" dirty="0" smtClean="0">
                <a:sym typeface="+mn-ea"/>
              </a:rPr>
              <a:t>。</a:t>
            </a:r>
            <a:endParaRPr lang="en-US" altLang="zh-CN" sz="1400" b="1" dirty="0"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20143" y="3507854"/>
            <a:ext cx="900493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400" b="1" dirty="0" err="1">
                <a:sym typeface="+mn-ea"/>
              </a:rPr>
              <a:t>vunpack_lo</a:t>
            </a:r>
            <a:r>
              <a:rPr lang="en-US" altLang="zh-CN" sz="1400" b="1" dirty="0">
                <a:sym typeface="+mn-ea"/>
              </a:rPr>
              <a:t>/hi</a:t>
            </a:r>
            <a:r>
              <a:rPr lang="zh-CN" altLang="en-US" sz="1400" b="1" dirty="0">
                <a:sym typeface="+mn-ea"/>
              </a:rPr>
              <a:t>将</a:t>
            </a:r>
            <a:r>
              <a:rPr lang="en-US" altLang="zh-CN" sz="1400" b="1" dirty="0">
                <a:sym typeface="+mn-ea"/>
              </a:rPr>
              <a:t>32-way </a:t>
            </a:r>
            <a:r>
              <a:rPr lang="en-US" altLang="zh-CN" sz="1400" b="1" dirty="0" err="1">
                <a:sym typeface="+mn-ea"/>
              </a:rPr>
              <a:t>accMxx</a:t>
            </a:r>
            <a:r>
              <a:rPr lang="zh-CN" altLang="en-US" sz="1400" b="1" dirty="0">
                <a:sym typeface="+mn-ea"/>
              </a:rPr>
              <a:t>分成两个</a:t>
            </a:r>
            <a:r>
              <a:rPr lang="en-US" altLang="zh-CN" sz="1400" b="1" dirty="0">
                <a:sym typeface="+mn-ea"/>
              </a:rPr>
              <a:t>16-way</a:t>
            </a:r>
            <a:r>
              <a:rPr lang="zh-CN" altLang="en-US" sz="1400" b="1" dirty="0">
                <a:sym typeface="+mn-ea"/>
              </a:rPr>
              <a:t>的</a:t>
            </a:r>
            <a:r>
              <a:rPr lang="en-US" altLang="zh-CN" sz="1400" b="1" dirty="0" smtClean="0">
                <a:sym typeface="+mn-ea"/>
              </a:rPr>
              <a:t>(</a:t>
            </a:r>
            <a:r>
              <a:rPr lang="en-US" altLang="zh-CN" sz="1400" b="1" dirty="0" err="1" smtClean="0">
                <a:sym typeface="+mn-ea"/>
              </a:rPr>
              <a:t>m</a:t>
            </a:r>
            <a:r>
              <a:rPr lang="en-US" altLang="zh-CN" sz="1400" b="1" dirty="0" err="1" smtClean="0">
                <a:sym typeface="+mn-ea"/>
              </a:rPr>
              <a:t>xx_</a:t>
            </a:r>
            <a:r>
              <a:rPr lang="en-US" altLang="zh-CN" sz="1400" b="1" dirty="0" err="1" smtClean="0">
                <a:sym typeface="+mn-ea"/>
              </a:rPr>
              <a:t>l</a:t>
            </a:r>
            <a:r>
              <a:rPr lang="en-US" altLang="zh-CN" sz="1400" b="1" dirty="0" err="1" smtClean="0">
                <a:sym typeface="+mn-ea"/>
              </a:rPr>
              <a:t>,</a:t>
            </a:r>
            <a:r>
              <a:rPr lang="en-US" altLang="zh-CN" sz="1400" b="1" dirty="0" err="1" smtClean="0">
                <a:sym typeface="+mn-ea"/>
              </a:rPr>
              <a:t>m</a:t>
            </a:r>
            <a:r>
              <a:rPr lang="en-US" altLang="zh-CN" sz="1400" b="1" dirty="0" err="1" smtClean="0">
                <a:sym typeface="+mn-ea"/>
              </a:rPr>
              <a:t>xx_</a:t>
            </a:r>
            <a:r>
              <a:rPr lang="en-US" altLang="zh-CN" sz="1400" b="1" dirty="0" err="1" smtClean="0">
                <a:sym typeface="+mn-ea"/>
              </a:rPr>
              <a:t>h</a:t>
            </a:r>
            <a:r>
              <a:rPr lang="en-US" altLang="zh-CN" sz="1400" b="1" dirty="0" smtClean="0">
                <a:sym typeface="+mn-ea"/>
              </a:rPr>
              <a:t>) </a:t>
            </a:r>
            <a:r>
              <a:rPr lang="en-US" altLang="zh-CN" sz="1400" b="1" dirty="0" err="1" smtClean="0">
                <a:sym typeface="+mn-ea"/>
              </a:rPr>
              <a:t>u</a:t>
            </a:r>
            <a:r>
              <a:rPr lang="en-US" altLang="zh-CN" sz="1400" b="1" dirty="0" err="1" smtClean="0">
                <a:sym typeface="+mn-ea"/>
              </a:rPr>
              <a:t>short</a:t>
            </a:r>
            <a:r>
              <a:rPr lang="zh-CN" altLang="en-US" sz="1400" b="1" dirty="0" smtClean="0">
                <a:sym typeface="+mn-ea"/>
              </a:rPr>
              <a:t>模式</a:t>
            </a:r>
            <a:r>
              <a:rPr lang="zh-CN" altLang="zh-CN" sz="1400" b="1" dirty="0" smtClean="0">
                <a:sym typeface="+mn-ea"/>
              </a:rPr>
              <a:t>。</a:t>
            </a:r>
            <a:r>
              <a:rPr lang="zh-CN" altLang="en-US" sz="1400" b="1" dirty="0" smtClean="0">
                <a:sym typeface="+mn-ea"/>
              </a:rPr>
              <a:t>不过，</a:t>
            </a:r>
            <a:r>
              <a:rPr lang="en-US" altLang="zh-CN" sz="1400" b="1" dirty="0" smtClean="0">
                <a:sym typeface="+mn-ea"/>
              </a:rPr>
              <a:t>LUT</a:t>
            </a:r>
            <a:r>
              <a:rPr lang="zh-CN" altLang="en-US" sz="1400" b="1" dirty="0" smtClean="0">
                <a:sym typeface="+mn-ea"/>
              </a:rPr>
              <a:t>表依然设计为</a:t>
            </a:r>
            <a:r>
              <a:rPr lang="en-US" altLang="zh-CN" sz="1400" b="1" dirty="0" err="1" smtClean="0">
                <a:sym typeface="+mn-ea"/>
              </a:rPr>
              <a:t>uchar</a:t>
            </a:r>
            <a:r>
              <a:rPr lang="zh-CN" altLang="en-US" sz="1400" b="1" dirty="0" smtClean="0">
                <a:sym typeface="+mn-ea"/>
              </a:rPr>
              <a:t>类型的，</a:t>
            </a:r>
            <a:r>
              <a:rPr lang="en-US" altLang="zh-CN" sz="1400" b="1" dirty="0" err="1">
                <a:sym typeface="+mn-ea"/>
              </a:rPr>
              <a:t>mxx_l,</a:t>
            </a:r>
            <a:r>
              <a:rPr lang="en-US" altLang="zh-CN" sz="1400" b="1" dirty="0" err="1" smtClean="0">
                <a:sym typeface="+mn-ea"/>
              </a:rPr>
              <a:t>mxx_h</a:t>
            </a:r>
            <a:r>
              <a:rPr lang="zh-CN" altLang="en-US" sz="1400" b="1" dirty="0" smtClean="0">
                <a:sym typeface="+mn-ea"/>
              </a:rPr>
              <a:t>需要进一步分解为</a:t>
            </a:r>
            <a:r>
              <a:rPr lang="en-US" altLang="zh-CN" sz="1400" b="1" dirty="0" err="1" smtClean="0">
                <a:sym typeface="+mn-ea"/>
              </a:rPr>
              <a:t>mxx_l</a:t>
            </a:r>
            <a:r>
              <a:rPr lang="en-US" altLang="zh-CN" sz="1400" b="1" dirty="0" err="1" smtClean="0">
                <a:sym typeface="+mn-ea"/>
              </a:rPr>
              <a:t>l</a:t>
            </a:r>
            <a:r>
              <a:rPr lang="en-US" altLang="zh-CN" sz="1400" b="1" dirty="0" err="1" smtClean="0">
                <a:sym typeface="+mn-ea"/>
              </a:rPr>
              <a:t>,mxx_</a:t>
            </a:r>
            <a:r>
              <a:rPr lang="en-US" altLang="zh-CN" sz="1400" b="1" dirty="0" err="1" smtClean="0">
                <a:sym typeface="+mn-ea"/>
              </a:rPr>
              <a:t>l</a:t>
            </a:r>
            <a:r>
              <a:rPr lang="en-US" altLang="zh-CN" sz="1400" b="1" dirty="0" err="1" smtClean="0">
                <a:sym typeface="+mn-ea"/>
              </a:rPr>
              <a:t>h</a:t>
            </a:r>
            <a:r>
              <a:rPr lang="en-US" altLang="zh-CN" sz="1400" b="1" dirty="0" err="1" smtClean="0">
                <a:sym typeface="+mn-ea"/>
              </a:rPr>
              <a:t>,mxx_hl,mxx_hh</a:t>
            </a:r>
            <a:r>
              <a:rPr lang="zh-CN" altLang="zh-CN" sz="1400" b="1" dirty="0" smtClean="0">
                <a:sym typeface="+mn-ea"/>
              </a:rPr>
              <a:t>，</a:t>
            </a:r>
            <a:r>
              <a:rPr lang="zh-CN" altLang="en-US" sz="1400" b="1" dirty="0" smtClean="0">
                <a:sym typeface="+mn-ea"/>
              </a:rPr>
              <a:t>然后再作为索引查询。</a:t>
            </a:r>
            <a:endParaRPr lang="en-US" altLang="zh-CN" sz="1400" b="1" dirty="0"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520" y="2787774"/>
            <a:ext cx="2520280" cy="652982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1840" y="2787774"/>
            <a:ext cx="2664296" cy="632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56602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CEVA FAST-9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角点检测</a:t>
            </a:r>
            <a:r>
              <a:rPr lang="en-US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LUT</a:t>
            </a:r>
            <a:endParaRPr 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1520" y="1275606"/>
            <a:ext cx="6696744" cy="720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1400" b="1" dirty="0">
                <a:sym typeface="+mn-ea"/>
              </a:rPr>
              <a:t>1</a:t>
            </a:r>
            <a:r>
              <a:rPr lang="zh-CN" altLang="en-US" sz="1400" b="1" dirty="0" smtClean="0">
                <a:sym typeface="+mn-ea"/>
              </a:rPr>
              <a:t>、</a:t>
            </a:r>
            <a:r>
              <a:rPr lang="en-US" altLang="zh-CN" sz="1400" b="1" dirty="0" smtClean="0">
                <a:sym typeface="+mn-ea"/>
              </a:rPr>
              <a:t>1-</a:t>
            </a:r>
            <a:r>
              <a:rPr lang="en-US" altLang="zh-CN" sz="1400" b="1" dirty="0" smtClean="0">
                <a:sym typeface="+mn-ea"/>
              </a:rPr>
              <a:t>way </a:t>
            </a:r>
            <a:r>
              <a:rPr lang="en-US" sz="1400" b="1" dirty="0" err="1" smtClean="0">
                <a:sym typeface="+mn-ea"/>
              </a:rPr>
              <a:t>u</a:t>
            </a:r>
            <a:r>
              <a:rPr lang="en-US" altLang="zh-CN" sz="1400" b="1" dirty="0" err="1" smtClean="0">
                <a:sym typeface="+mn-ea"/>
              </a:rPr>
              <a:t>short</a:t>
            </a:r>
            <a:r>
              <a:rPr lang="zh-CN" altLang="en-US" sz="1400" b="1" dirty="0" smtClean="0">
                <a:sym typeface="+mn-ea"/>
              </a:rPr>
              <a:t>类型</a:t>
            </a:r>
            <a:r>
              <a:rPr lang="zh-CN" altLang="en-US" sz="1400" b="1" dirty="0" smtClean="0">
                <a:sym typeface="+mn-ea"/>
              </a:rPr>
              <a:t>模式</a:t>
            </a:r>
            <a:r>
              <a:rPr lang="en-US" altLang="zh-CN" sz="1400" b="1" dirty="0" smtClean="0">
                <a:sym typeface="+mn-ea"/>
              </a:rPr>
              <a:t>LUT</a:t>
            </a:r>
            <a:r>
              <a:rPr lang="zh-CN" altLang="en-US" sz="1400" b="1" dirty="0" smtClean="0">
                <a:sym typeface="+mn-ea"/>
              </a:rPr>
              <a:t>长度</a:t>
            </a:r>
            <a:r>
              <a:rPr lang="en-US" altLang="zh-CN" sz="1400" b="1" dirty="0" smtClean="0">
                <a:sym typeface="+mn-ea"/>
              </a:rPr>
              <a:t>64K</a:t>
            </a:r>
            <a:r>
              <a:rPr lang="zh-CN" altLang="en-US" sz="1400" b="1" dirty="0" smtClean="0">
                <a:sym typeface="+mn-ea"/>
              </a:rPr>
              <a:t>，</a:t>
            </a:r>
            <a:r>
              <a:rPr lang="en-US" sz="1400" b="1" dirty="0" smtClean="0">
                <a:sym typeface="+mn-ea"/>
              </a:rPr>
              <a:t>16-</a:t>
            </a:r>
            <a:r>
              <a:rPr lang="en-US" altLang="zh-CN" sz="1400" b="1" dirty="0" smtClean="0">
                <a:sym typeface="+mn-ea"/>
              </a:rPr>
              <a:t>way</a:t>
            </a:r>
            <a:r>
              <a:rPr lang="zh-CN" altLang="en-US" sz="1400" b="1" dirty="0" smtClean="0">
                <a:sym typeface="+mn-ea"/>
              </a:rPr>
              <a:t>并行</a:t>
            </a:r>
            <a:r>
              <a:rPr lang="en-US" altLang="zh-CN" sz="1400" b="1" dirty="0" smtClean="0">
                <a:sym typeface="+mn-ea"/>
              </a:rPr>
              <a:t>LUT</a:t>
            </a:r>
            <a:r>
              <a:rPr lang="zh-CN" altLang="en-US" sz="1400" b="1" dirty="0" smtClean="0">
                <a:sym typeface="+mn-ea"/>
              </a:rPr>
              <a:t>将达</a:t>
            </a:r>
            <a:r>
              <a:rPr lang="en-US" altLang="zh-CN" sz="1400" b="1" dirty="0" smtClean="0">
                <a:sym typeface="+mn-ea"/>
              </a:rPr>
              <a:t>1M</a:t>
            </a:r>
            <a:r>
              <a:rPr lang="zh-CN" altLang="en-US" sz="1400" b="1" dirty="0" smtClean="0">
                <a:sym typeface="+mn-ea"/>
              </a:rPr>
              <a:t>，不可接受</a:t>
            </a:r>
            <a:r>
              <a:rPr lang="zh-CN" altLang="en-US" sz="1400" b="1" dirty="0" smtClean="0">
                <a:sym typeface="+mn-ea"/>
              </a:rPr>
              <a:t>。</a:t>
            </a:r>
            <a:endParaRPr lang="zh-CN" altLang="en-US" sz="1400" b="1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 dirty="0">
                <a:sym typeface="+mn-ea"/>
              </a:rPr>
              <a:t>2</a:t>
            </a:r>
            <a:r>
              <a:rPr lang="zh-CN" altLang="en-US" sz="1400" b="1" dirty="0">
                <a:sym typeface="+mn-ea"/>
              </a:rPr>
              <a:t>、查询</a:t>
            </a:r>
            <a:r>
              <a:rPr lang="en-US" altLang="zh-CN" sz="1400" b="1" dirty="0">
                <a:sym typeface="+mn-ea"/>
              </a:rPr>
              <a:t>LUT</a:t>
            </a:r>
            <a:r>
              <a:rPr lang="zh-CN" altLang="en-US" sz="1400" b="1" dirty="0">
                <a:sym typeface="+mn-ea"/>
              </a:rPr>
              <a:t>采用</a:t>
            </a:r>
            <a:r>
              <a:rPr lang="en-US" altLang="zh-CN" sz="1400" b="1" dirty="0" err="1">
                <a:sym typeface="+mn-ea"/>
              </a:rPr>
              <a:t>vpld</a:t>
            </a:r>
            <a:r>
              <a:rPr lang="en-US" altLang="zh-CN" sz="1400" b="1" dirty="0">
                <a:sym typeface="+mn-ea"/>
              </a:rPr>
              <a:t> relative</a:t>
            </a:r>
            <a:r>
              <a:rPr lang="zh-CN" altLang="en-US" sz="1400" b="1" dirty="0">
                <a:sym typeface="+mn-ea"/>
              </a:rPr>
              <a:t>模式，</a:t>
            </a:r>
            <a:r>
              <a:rPr lang="en-US" altLang="zh-CN" sz="1400" b="1" dirty="0">
                <a:sym typeface="+mn-ea"/>
              </a:rPr>
              <a:t>16-way </a:t>
            </a:r>
            <a:r>
              <a:rPr lang="en-US" altLang="zh-CN" sz="1400" b="1" dirty="0" smtClean="0">
                <a:sym typeface="+mn-ea"/>
              </a:rPr>
              <a:t>(</a:t>
            </a:r>
            <a:r>
              <a:rPr lang="en-US" altLang="zh-CN" sz="1400" b="1" dirty="0" err="1" smtClean="0">
                <a:sym typeface="+mn-ea"/>
              </a:rPr>
              <a:t>mxx_ll,mxx_lh</a:t>
            </a:r>
            <a:r>
              <a:rPr lang="en-US" altLang="zh-CN" sz="1400" b="1" dirty="0" err="1">
                <a:sym typeface="+mn-ea"/>
              </a:rPr>
              <a:t>,mxx_hl,mxx_hh</a:t>
            </a:r>
            <a:r>
              <a:rPr lang="en-US" altLang="zh-CN" sz="1400" b="1" dirty="0" smtClean="0">
                <a:sym typeface="+mn-ea"/>
              </a:rPr>
              <a:t>)</a:t>
            </a:r>
            <a:r>
              <a:rPr lang="zh-CN" altLang="en-US" sz="1400" b="1" dirty="0" smtClean="0">
                <a:sym typeface="+mn-ea"/>
              </a:rPr>
              <a:t>一次查询。</a:t>
            </a:r>
            <a:endParaRPr lang="zh-CN" altLang="en-US" sz="1400" b="1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067694"/>
            <a:ext cx="2952328" cy="43698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843558"/>
            <a:ext cx="4104456" cy="41794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347864" y="2030189"/>
            <a:ext cx="4464496" cy="397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400" b="1" dirty="0" smtClean="0">
                <a:sym typeface="+mn-ea"/>
              </a:rPr>
              <a:t>vpack</a:t>
            </a:r>
            <a:r>
              <a:rPr lang="en-US" altLang="en-US" sz="1400" b="1" dirty="0" smtClean="0">
                <a:sym typeface="+mn-ea"/>
              </a:rPr>
              <a:t>将16-way查询结果合并为</a:t>
            </a:r>
            <a:r>
              <a:rPr lang="en-US" altLang="zh-CN" sz="1400" b="1" dirty="0" smtClean="0">
                <a:sym typeface="+mn-ea"/>
              </a:rPr>
              <a:t>32-way</a:t>
            </a:r>
            <a:r>
              <a:rPr lang="zh-CN" altLang="en-US" sz="1400" b="1" dirty="0" smtClean="0">
                <a:sym typeface="+mn-ea"/>
              </a:rPr>
              <a:t>的</a:t>
            </a:r>
            <a:r>
              <a:rPr lang="en-US" altLang="zh-CN" sz="1400" b="1" dirty="0" err="1" smtClean="0">
                <a:sym typeface="+mn-ea"/>
              </a:rPr>
              <a:t>X_l</a:t>
            </a:r>
            <a:r>
              <a:rPr lang="zh-CN" altLang="zh-CN" sz="1400" b="1" dirty="0" smtClean="0">
                <a:sym typeface="+mn-ea"/>
              </a:rPr>
              <a:t>，</a:t>
            </a:r>
            <a:r>
              <a:rPr lang="en-US" altLang="zh-CN" sz="1400" b="1" dirty="0" err="1" smtClean="0">
                <a:sym typeface="+mn-ea"/>
              </a:rPr>
              <a:t>X_h</a:t>
            </a:r>
            <a:r>
              <a:rPr lang="zh-CN" altLang="en-US" sz="1400" b="1" dirty="0" smtClean="0">
                <a:sym typeface="+mn-ea"/>
              </a:rPr>
              <a:t>编码</a:t>
            </a:r>
            <a:r>
              <a:rPr lang="zh-CN" altLang="zh-CN" sz="1400" b="1" dirty="0" smtClean="0">
                <a:sym typeface="+mn-ea"/>
              </a:rPr>
              <a:t>。</a:t>
            </a:r>
            <a:endParaRPr lang="en-US" altLang="zh-CN" sz="1400" b="1" dirty="0" smtClean="0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621641"/>
            <a:ext cx="2808312" cy="742197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347864" y="2534245"/>
            <a:ext cx="5616624" cy="20133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400" b="1" dirty="0" err="1">
                <a:sym typeface="+mn-ea"/>
              </a:rPr>
              <a:t>X_l</a:t>
            </a:r>
            <a:r>
              <a:rPr lang="zh-CN" altLang="en-US" sz="1400" b="1" dirty="0">
                <a:sym typeface="+mn-ea"/>
              </a:rPr>
              <a:t>、</a:t>
            </a:r>
            <a:r>
              <a:rPr lang="en-US" altLang="zh-CN" sz="1400" b="1" dirty="0" err="1">
                <a:sym typeface="+mn-ea"/>
              </a:rPr>
              <a:t>X_h</a:t>
            </a:r>
            <a:r>
              <a:rPr lang="zh-CN" altLang="en-US" sz="1400" b="1" dirty="0">
                <a:sym typeface="+mn-ea"/>
              </a:rPr>
              <a:t>各自拆分为</a:t>
            </a:r>
            <a:r>
              <a:rPr lang="en-US" altLang="zh-CN" sz="1400" b="1" dirty="0">
                <a:sym typeface="+mn-ea"/>
              </a:rPr>
              <a:t>2</a:t>
            </a:r>
            <a:r>
              <a:rPr lang="zh-CN" altLang="en-US" sz="1400" b="1" dirty="0">
                <a:sym typeface="+mn-ea"/>
              </a:rPr>
              <a:t>个</a:t>
            </a:r>
            <a:r>
              <a:rPr lang="en-US" altLang="zh-CN" sz="1400" b="1" dirty="0">
                <a:sym typeface="+mn-ea"/>
              </a:rPr>
              <a:t>4-bit</a:t>
            </a:r>
            <a:r>
              <a:rPr lang="zh-CN" altLang="en-US" sz="1400" b="1" dirty="0">
                <a:sym typeface="+mn-ea"/>
              </a:rPr>
              <a:t>编码，记为</a:t>
            </a:r>
            <a:r>
              <a:rPr lang="en-US" altLang="zh-CN" sz="1400" b="1" dirty="0">
                <a:sym typeface="+mn-ea"/>
              </a:rPr>
              <a:t>X_l_L</a:t>
            </a:r>
            <a:r>
              <a:rPr lang="zh-CN" altLang="en-US" sz="1400" b="1" dirty="0">
                <a:sym typeface="+mn-ea"/>
              </a:rPr>
              <a:t>、</a:t>
            </a:r>
            <a:r>
              <a:rPr lang="en-US" altLang="zh-CN" sz="1400" b="1" dirty="0">
                <a:sym typeface="+mn-ea"/>
              </a:rPr>
              <a:t>X_l_R</a:t>
            </a:r>
            <a:r>
              <a:rPr lang="zh-CN" altLang="en-US" sz="1400" b="1" dirty="0">
                <a:sym typeface="+mn-ea"/>
              </a:rPr>
              <a:t>、</a:t>
            </a:r>
            <a:r>
              <a:rPr lang="en-US" altLang="zh-CN" sz="1400" b="1" dirty="0">
                <a:sym typeface="+mn-ea"/>
              </a:rPr>
              <a:t>X_h_L</a:t>
            </a:r>
            <a:r>
              <a:rPr lang="zh-CN" altLang="en-US" sz="1400" b="1" dirty="0">
                <a:sym typeface="+mn-ea"/>
              </a:rPr>
              <a:t>、</a:t>
            </a:r>
            <a:r>
              <a:rPr lang="en-US" altLang="zh-CN" sz="1400" b="1" dirty="0">
                <a:sym typeface="+mn-ea"/>
              </a:rPr>
              <a:t>X_h_R</a:t>
            </a:r>
            <a:r>
              <a:rPr lang="zh-CN" altLang="en-US" sz="1400" b="1" dirty="0" smtClean="0">
                <a:sym typeface="+mn-ea"/>
              </a:rPr>
              <a:t>。</a:t>
            </a:r>
            <a:endParaRPr lang="en-US" altLang="zh-CN" sz="1400" b="1" dirty="0" smtClean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 dirty="0">
                <a:sym typeface="+mn-ea"/>
              </a:rPr>
              <a:t>X_l_L</a:t>
            </a:r>
            <a:r>
              <a:rPr lang="zh-CN" altLang="en-US" sz="1400" b="1" dirty="0">
                <a:sym typeface="+mn-ea"/>
              </a:rPr>
              <a:t>、</a:t>
            </a:r>
            <a:r>
              <a:rPr lang="en-US" altLang="zh-CN" sz="1400" b="1" dirty="0" smtClean="0">
                <a:sym typeface="+mn-ea"/>
              </a:rPr>
              <a:t>X_h_R</a:t>
            </a:r>
            <a:r>
              <a:rPr lang="zh-CN" altLang="en-US" sz="1400" b="1" dirty="0" smtClean="0">
                <a:sym typeface="+mn-ea"/>
              </a:rPr>
              <a:t>分别编码从</a:t>
            </a:r>
            <a:r>
              <a:rPr lang="en-US" altLang="zh-CN" sz="1400" b="1" dirty="0" smtClean="0">
                <a:sym typeface="+mn-ea"/>
              </a:rPr>
              <a:t>#0</a:t>
            </a:r>
            <a:r>
              <a:rPr lang="zh-CN" altLang="en-US" sz="1400" b="1" dirty="0" smtClean="0">
                <a:sym typeface="+mn-ea"/>
              </a:rPr>
              <a:t>算起左、右方向各自有多少个像素连续满</a:t>
            </a:r>
            <a:r>
              <a:rPr lang="zh-CN" altLang="en-US" sz="1400" b="1" dirty="0">
                <a:sym typeface="+mn-ea"/>
              </a:rPr>
              <a:t>足</a:t>
            </a:r>
            <a:r>
              <a:rPr lang="en-US" altLang="zh-CN" sz="1400" b="1" dirty="0">
                <a:sym typeface="+mn-ea"/>
              </a:rPr>
              <a:t>C</a:t>
            </a:r>
            <a:r>
              <a:rPr lang="zh-CN" altLang="en-US" sz="1400" b="1" dirty="0">
                <a:sym typeface="+mn-ea"/>
              </a:rPr>
              <a:t>条件，</a:t>
            </a:r>
            <a:r>
              <a:rPr lang="en-US" altLang="zh-CN" sz="1400" b="1" dirty="0">
                <a:sym typeface="+mn-ea"/>
              </a:rPr>
              <a:t>X_h_L</a:t>
            </a:r>
            <a:r>
              <a:rPr lang="zh-CN" altLang="en-US" sz="1400" b="1" dirty="0">
                <a:sym typeface="+mn-ea"/>
              </a:rPr>
              <a:t>、</a:t>
            </a:r>
            <a:r>
              <a:rPr lang="en-US" altLang="zh-CN" sz="1400" b="1" dirty="0">
                <a:sym typeface="+mn-ea"/>
              </a:rPr>
              <a:t>X_l_R</a:t>
            </a:r>
            <a:r>
              <a:rPr lang="zh-CN" altLang="en-US" sz="1400" b="1" dirty="0" smtClean="0">
                <a:sym typeface="+mn-ea"/>
              </a:rPr>
              <a:t>则分别编码从</a:t>
            </a:r>
            <a:r>
              <a:rPr lang="en-US" altLang="zh-CN" sz="1400" b="1" dirty="0" smtClean="0">
                <a:sym typeface="+mn-ea"/>
              </a:rPr>
              <a:t>#8</a:t>
            </a:r>
            <a:r>
              <a:rPr lang="zh-CN" altLang="en-US" sz="1400" b="1" dirty="0" smtClean="0">
                <a:sym typeface="+mn-ea"/>
              </a:rPr>
              <a:t>算起左、右方向各自有多少个像素连续满</a:t>
            </a:r>
            <a:r>
              <a:rPr lang="zh-CN" altLang="en-US" sz="1400" b="1" dirty="0">
                <a:sym typeface="+mn-ea"/>
              </a:rPr>
              <a:t>足</a:t>
            </a:r>
            <a:r>
              <a:rPr lang="en-US" altLang="zh-CN" sz="1400" b="1" dirty="0">
                <a:sym typeface="+mn-ea"/>
              </a:rPr>
              <a:t>C</a:t>
            </a:r>
            <a:r>
              <a:rPr lang="zh-CN" altLang="en-US" sz="1400" b="1" dirty="0">
                <a:sym typeface="+mn-ea"/>
              </a:rPr>
              <a:t>条件</a:t>
            </a:r>
            <a:r>
              <a:rPr lang="zh-CN" altLang="en-US" sz="1400" b="1" dirty="0" smtClean="0">
                <a:sym typeface="+mn-ea"/>
              </a:rPr>
              <a:t>。</a:t>
            </a:r>
            <a:endParaRPr lang="en-US" altLang="zh-CN" sz="1400" b="1" dirty="0" smtClean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 dirty="0" err="1">
                <a:sym typeface="+mn-ea"/>
              </a:rPr>
              <a:t>X_l_L+X_h_R</a:t>
            </a:r>
            <a:r>
              <a:rPr lang="zh-CN" altLang="en-US" sz="1400" b="1" dirty="0">
                <a:sym typeface="+mn-ea"/>
              </a:rPr>
              <a:t>或</a:t>
            </a:r>
            <a:r>
              <a:rPr lang="en-US" altLang="zh-CN" sz="1400" b="1" dirty="0" err="1">
                <a:sym typeface="+mn-ea"/>
              </a:rPr>
              <a:t>X_h_L+X_l_R</a:t>
            </a:r>
            <a:r>
              <a:rPr lang="zh-CN" altLang="en-US" sz="1400" b="1" dirty="0">
                <a:sym typeface="+mn-ea"/>
              </a:rPr>
              <a:t>满</a:t>
            </a:r>
            <a:r>
              <a:rPr lang="zh-CN" altLang="en-US" sz="1400" b="1" dirty="0" smtClean="0">
                <a:sym typeface="+mn-ea"/>
              </a:rPr>
              <a:t>足</a:t>
            </a:r>
            <a:r>
              <a:rPr lang="en-US" altLang="zh-CN" sz="1400" b="1" dirty="0" smtClean="0">
                <a:sym typeface="+mn-ea"/>
              </a:rPr>
              <a:t>&gt;=9</a:t>
            </a:r>
            <a:r>
              <a:rPr lang="zh-CN" altLang="en-US" sz="1400" b="1" dirty="0">
                <a:sym typeface="+mn-ea"/>
              </a:rPr>
              <a:t>的条件则认为中心像素处为</a:t>
            </a:r>
            <a:r>
              <a:rPr lang="en-US" altLang="zh-CN" sz="1400" b="1" dirty="0">
                <a:sym typeface="+mn-ea"/>
              </a:rPr>
              <a:t>fast</a:t>
            </a:r>
            <a:r>
              <a:rPr lang="en-US" altLang="zh-CN" sz="1400" b="1" dirty="0" smtClean="0">
                <a:sym typeface="+mn-ea"/>
              </a:rPr>
              <a:t>-9</a:t>
            </a:r>
            <a:r>
              <a:rPr lang="zh-CN" altLang="en-US" sz="1400" b="1" dirty="0" smtClean="0">
                <a:sym typeface="+mn-ea"/>
              </a:rPr>
              <a:t>角点</a:t>
            </a:r>
            <a:r>
              <a:rPr lang="zh-CN" altLang="zh-CN" sz="1400" b="1" dirty="0">
                <a:sym typeface="+mn-ea"/>
              </a:rPr>
              <a:t>。</a:t>
            </a:r>
            <a:endParaRPr lang="en-US" altLang="zh-CN" sz="1400" b="1" dirty="0" smtClean="0"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20" y="483518"/>
            <a:ext cx="1181100" cy="135255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308304" y="1491630"/>
            <a:ext cx="4687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ym typeface="+mn-ea"/>
              </a:rPr>
              <a:t>X_l_L</a:t>
            </a:r>
            <a:endParaRPr lang="zh-CN" altLang="en-US" sz="1000" dirty="0"/>
          </a:p>
        </p:txBody>
      </p:sp>
      <p:sp>
        <p:nvSpPr>
          <p:cNvPr id="30" name="矩形 29"/>
          <p:cNvSpPr/>
          <p:nvPr/>
        </p:nvSpPr>
        <p:spPr>
          <a:xfrm>
            <a:off x="8388424" y="1491630"/>
            <a:ext cx="52405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 smtClean="0">
                <a:sym typeface="+mn-ea"/>
              </a:rPr>
              <a:t>X_</a:t>
            </a:r>
            <a:r>
              <a:rPr lang="en-US" altLang="zh-CN" sz="1000" b="1" dirty="0" smtClean="0">
                <a:sym typeface="+mn-ea"/>
              </a:rPr>
              <a:t>h</a:t>
            </a:r>
            <a:r>
              <a:rPr lang="en-US" altLang="zh-CN" sz="1000" b="1" dirty="0" smtClean="0">
                <a:sym typeface="+mn-ea"/>
              </a:rPr>
              <a:t>_</a:t>
            </a:r>
            <a:r>
              <a:rPr lang="en-US" altLang="zh-CN" sz="1000" b="1" dirty="0" smtClean="0">
                <a:sym typeface="+mn-ea"/>
              </a:rPr>
              <a:t>R</a:t>
            </a:r>
            <a:endParaRPr lang="zh-CN" altLang="en-US" sz="1000" dirty="0"/>
          </a:p>
        </p:txBody>
      </p:sp>
      <p:sp>
        <p:nvSpPr>
          <p:cNvPr id="31" name="矩形 30"/>
          <p:cNvSpPr/>
          <p:nvPr/>
        </p:nvSpPr>
        <p:spPr>
          <a:xfrm>
            <a:off x="7308304" y="555526"/>
            <a:ext cx="5060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 smtClean="0">
                <a:sym typeface="+mn-ea"/>
              </a:rPr>
              <a:t>X_</a:t>
            </a:r>
            <a:r>
              <a:rPr lang="en-US" altLang="zh-CN" sz="1000" b="1" dirty="0" smtClean="0">
                <a:sym typeface="+mn-ea"/>
              </a:rPr>
              <a:t>h</a:t>
            </a:r>
            <a:r>
              <a:rPr lang="en-US" altLang="zh-CN" sz="1000" b="1" dirty="0" smtClean="0">
                <a:sym typeface="+mn-ea"/>
              </a:rPr>
              <a:t>_L</a:t>
            </a:r>
            <a:endParaRPr lang="zh-CN" altLang="en-US" sz="1000" dirty="0"/>
          </a:p>
        </p:txBody>
      </p:sp>
      <p:sp>
        <p:nvSpPr>
          <p:cNvPr id="32" name="矩形 31"/>
          <p:cNvSpPr/>
          <p:nvPr/>
        </p:nvSpPr>
        <p:spPr>
          <a:xfrm>
            <a:off x="8388424" y="555526"/>
            <a:ext cx="5193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 smtClean="0">
                <a:sym typeface="+mn-ea"/>
              </a:rPr>
              <a:t>X_</a:t>
            </a:r>
            <a:r>
              <a:rPr lang="zh-CN" altLang="zh-CN" sz="1000" b="1" dirty="0">
                <a:sym typeface="+mn-ea"/>
              </a:rPr>
              <a:t>l</a:t>
            </a:r>
            <a:r>
              <a:rPr lang="en-US" altLang="zh-CN" sz="1000" b="1" dirty="0" smtClean="0">
                <a:sym typeface="+mn-ea"/>
              </a:rPr>
              <a:t>_</a:t>
            </a:r>
            <a:r>
              <a:rPr lang="en-US" altLang="zh-CN" sz="1000" b="1" dirty="0" smtClean="0">
                <a:sym typeface="+mn-ea"/>
              </a:rPr>
              <a:t>R</a:t>
            </a:r>
            <a:endParaRPr lang="zh-CN" altLang="en-US" sz="1000" dirty="0"/>
          </a:p>
        </p:txBody>
      </p:sp>
      <p:sp>
        <p:nvSpPr>
          <p:cNvPr id="35" name="文本框 34"/>
          <p:cNvSpPr txBox="1"/>
          <p:nvPr/>
        </p:nvSpPr>
        <p:spPr>
          <a:xfrm>
            <a:off x="323528" y="3579862"/>
            <a:ext cx="2530999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b="1" dirty="0" smtClean="0"/>
              <a:t>*LUT</a:t>
            </a:r>
            <a:r>
              <a:rPr lang="zh-CN" altLang="en-US" sz="1400" b="1" dirty="0" smtClean="0"/>
              <a:t>具体工作机制仍需验证。</a:t>
            </a:r>
            <a:endParaRPr lang="zh-CN" alt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56602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CEVA FAST-9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score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endParaRPr lang="zh-CN" altLang="en-US" sz="28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46935" y="1496695"/>
            <a:ext cx="362394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400" b="1" dirty="0" err="1">
                <a:sym typeface="+mn-ea"/>
              </a:rPr>
              <a:t>32-way</a:t>
            </a:r>
            <a:r>
              <a:rPr lang="zh-CN" altLang="en-US" sz="1400" b="1" dirty="0" err="1">
                <a:sym typeface="+mn-ea"/>
              </a:rPr>
              <a:t>并行，</a:t>
            </a:r>
            <a:r>
              <a:rPr lang="zh-CN" sz="1400" b="1" dirty="0" err="1">
                <a:sym typeface="+mn-ea"/>
              </a:rPr>
              <a:t>基本遵循</a:t>
            </a:r>
            <a:r>
              <a:rPr lang="en-US" altLang="zh-CN" sz="1400" b="1" dirty="0" err="1">
                <a:sym typeface="+mn-ea"/>
              </a:rPr>
              <a:t>O</a:t>
            </a:r>
            <a:r>
              <a:rPr lang="en-US" altLang="zh-CN" sz="1400" b="1" dirty="0" err="1">
                <a:sym typeface="+mn-ea"/>
              </a:rPr>
              <a:t>pencv</a:t>
            </a:r>
            <a:r>
              <a:rPr lang="zh-CN" altLang="en-US" sz="1400" b="1" dirty="0" err="1">
                <a:sym typeface="+mn-ea"/>
              </a:rPr>
              <a:t>的实现</a:t>
            </a:r>
            <a:endParaRPr lang="en-US" altLang="zh-CN" sz="1400" b="1" dirty="0" smtClean="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096770" y="2294890"/>
            <a:ext cx="22098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400" b="1" dirty="0" err="1">
                <a:sym typeface="+mn-ea"/>
              </a:rPr>
              <a:t>使用</a:t>
            </a:r>
            <a:r>
              <a:rPr lang="en-US" altLang="zh-CN" sz="1400" b="1" dirty="0" err="1">
                <a:sym typeface="+mn-ea"/>
              </a:rPr>
              <a:t>vmin/vmax</a:t>
            </a:r>
            <a:r>
              <a:rPr lang="zh-CN" altLang="en-US" sz="1400" b="1" dirty="0" err="1">
                <a:sym typeface="+mn-ea"/>
              </a:rPr>
              <a:t>一次比较</a:t>
            </a:r>
            <a:r>
              <a:rPr lang="en-US" altLang="zh-CN" sz="1400" b="1" dirty="0" err="1">
                <a:sym typeface="+mn-ea"/>
              </a:rPr>
              <a:t>3</a:t>
            </a:r>
            <a:r>
              <a:rPr lang="zh-CN" altLang="en-US" sz="1400" b="1" dirty="0" err="1">
                <a:sym typeface="+mn-ea"/>
              </a:rPr>
              <a:t>组点</a:t>
            </a:r>
            <a:endParaRPr lang="zh-CN" altLang="en-US" sz="1400" b="1" dirty="0" err="1" smtClean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" y="932815"/>
            <a:ext cx="1114425" cy="1362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770" y="932815"/>
            <a:ext cx="3190875" cy="333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425" y="1266190"/>
            <a:ext cx="2486025" cy="152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6935" y="1961515"/>
            <a:ext cx="1714500" cy="3333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9005" y="2763520"/>
            <a:ext cx="1943100" cy="190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935" y="2954020"/>
            <a:ext cx="2219325" cy="6286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055495" y="3482975"/>
            <a:ext cx="378396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400" b="1" dirty="0" err="1">
                <a:sym typeface="+mn-ea"/>
              </a:rPr>
              <a:t>第</a:t>
            </a:r>
            <a:r>
              <a:rPr lang="en-US" altLang="zh-CN" sz="1400" b="1" dirty="0" err="1">
                <a:sym typeface="+mn-ea"/>
              </a:rPr>
              <a:t>10</a:t>
            </a:r>
            <a:r>
              <a:rPr lang="zh-CN" altLang="en-US" sz="1400" b="1" dirty="0" err="1">
                <a:sym typeface="+mn-ea"/>
              </a:rPr>
              <a:t>个点时</a:t>
            </a:r>
            <a:r>
              <a:rPr lang="en-US" altLang="zh-CN" sz="1400" b="1" dirty="0" err="1">
                <a:sym typeface="+mn-ea"/>
              </a:rPr>
              <a:t>p0=p9,</a:t>
            </a:r>
            <a:r>
              <a:rPr lang="zh-CN" altLang="en-US" sz="1400" b="1" dirty="0" err="1">
                <a:sym typeface="+mn-ea"/>
              </a:rPr>
              <a:t>更新一次</a:t>
            </a:r>
            <a:r>
              <a:rPr lang="en-US" altLang="zh-CN" sz="1400" b="1" dirty="0" err="1">
                <a:sym typeface="+mn-ea"/>
              </a:rPr>
              <a:t>sMxx</a:t>
            </a:r>
            <a:endParaRPr lang="en-US" altLang="zh-CN" sz="1400" b="1" dirty="0" err="1" smtClean="0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8600" y="1942465"/>
            <a:ext cx="1657350" cy="37147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0350" y="3968750"/>
            <a:ext cx="3790950" cy="2667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1380" y="3968750"/>
            <a:ext cx="1562100" cy="2667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055495" y="4195445"/>
            <a:ext cx="231775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1400" b="1" dirty="0" err="1">
                <a:sym typeface="+mn-ea"/>
              </a:rPr>
              <a:t>vmac3</a:t>
            </a:r>
            <a:r>
              <a:rPr lang="zh-CN" altLang="en-US" sz="1400" b="1" dirty="0" err="1">
                <a:sym typeface="+mn-ea"/>
              </a:rPr>
              <a:t>计算</a:t>
            </a:r>
            <a:r>
              <a:rPr lang="en-US" altLang="zh-CN" sz="1400" b="1" dirty="0" err="1">
                <a:sym typeface="+mn-ea"/>
              </a:rPr>
              <a:t>score</a:t>
            </a:r>
            <a:endParaRPr lang="en-US" altLang="zh-CN" sz="1400" b="1" dirty="0" err="1" smtClean="0"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6260" y="2954020"/>
            <a:ext cx="2181225" cy="31432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0255" y="2052320"/>
            <a:ext cx="2028825" cy="15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23709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CEVA FAST-9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算子</a:t>
            </a:r>
            <a:r>
              <a: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调用接口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23215" y="843280"/>
            <a:ext cx="256095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ym typeface="+mn-ea"/>
              </a:rPr>
              <a:t>1 app</a:t>
            </a:r>
            <a:r>
              <a:rPr lang="zh-CN" altLang="en-US" sz="1400" b="1">
                <a:sym typeface="+mn-ea"/>
              </a:rPr>
              <a:t>层面接口：怎么跑的例子</a:t>
            </a:r>
            <a:endParaRPr lang="zh-CN" altLang="en-US" sz="1400" b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1149985"/>
            <a:ext cx="237744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1.1 ARM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端配置参数，远程调用</a:t>
            </a:r>
            <a:endParaRPr lang="zh-CN" alt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7360" y="1419225"/>
            <a:ext cx="3849370" cy="3038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40200" y="1059180"/>
            <a:ext cx="282448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2 </a:t>
            </a:r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DSP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端解析参数，调用</a:t>
            </a:r>
            <a:r>
              <a:rPr lang="en-US" sz="1000">
                <a:sym typeface="+mn-ea"/>
              </a:rPr>
              <a:t>app</a:t>
            </a:r>
            <a:r>
              <a:rPr lang="zh-CN" altLang="en-US" sz="1000">
                <a:sym typeface="+mn-ea"/>
              </a:rPr>
              <a:t>层面接口</a:t>
            </a:r>
            <a:endParaRPr lang="zh-CN" alt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1419225"/>
            <a:ext cx="4450080" cy="3037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23709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CEVA FAST-9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算子</a:t>
            </a:r>
            <a:r>
              <a: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调用接口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1923415"/>
            <a:ext cx="3905250" cy="2190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67360" y="987425"/>
            <a:ext cx="165481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ym typeface="+mn-ea"/>
              </a:rPr>
              <a:t>2 detector</a:t>
            </a:r>
            <a:r>
              <a:rPr lang="zh-CN" altLang="en-US" sz="1400" b="1">
                <a:sym typeface="+mn-ea"/>
              </a:rPr>
              <a:t>层面接口</a:t>
            </a:r>
            <a:endParaRPr lang="zh-CN" altLang="en-US" sz="1400" b="1"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0" y="1347470"/>
            <a:ext cx="1381125" cy="21907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" y="1635760"/>
            <a:ext cx="3648075" cy="18097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60" y="2212340"/>
            <a:ext cx="3429000" cy="20002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60" y="2499360"/>
            <a:ext cx="4238625" cy="47625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356235" y="3694430"/>
            <a:ext cx="478218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>
                <a:sym typeface="+mn-ea"/>
              </a:rPr>
              <a:t>客户一般需要</a:t>
            </a:r>
            <a:r>
              <a:rPr lang="en-US" altLang="zh-CN" sz="1600" b="1">
                <a:sym typeface="+mn-ea"/>
              </a:rPr>
              <a:t>detector</a:t>
            </a:r>
            <a:r>
              <a:rPr lang="zh-CN" altLang="en-US" sz="1600" b="1">
                <a:sym typeface="+mn-ea"/>
              </a:rPr>
              <a:t>层面接口以构建自己的算法。</a:t>
            </a:r>
            <a:endParaRPr lang="zh-CN" altLang="en-US" sz="16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23709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CEVA FAST-9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算子</a:t>
            </a:r>
            <a:r>
              <a: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客户学习成本</a:t>
            </a:r>
            <a:endParaRPr 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56235" y="1115695"/>
            <a:ext cx="71691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ym typeface="+mn-ea"/>
              </a:rPr>
              <a:t>opencv</a:t>
            </a:r>
            <a:endParaRPr lang="en-US" sz="1400" b="1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695" y="1864995"/>
            <a:ext cx="3905250" cy="2190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367530" y="1115695"/>
            <a:ext cx="106997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b="1">
                <a:sym typeface="+mn-ea"/>
              </a:rPr>
              <a:t>ceva cv</a:t>
            </a:r>
            <a:r>
              <a:rPr lang="zh-CN" altLang="en-US" sz="1400" b="1">
                <a:sym typeface="+mn-ea"/>
              </a:rPr>
              <a:t>接口</a:t>
            </a:r>
            <a:endParaRPr lang="zh-CN" altLang="en-US" sz="1400" b="1"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50" y="1430020"/>
            <a:ext cx="1381125" cy="21907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50" y="1649095"/>
            <a:ext cx="3648075" cy="18097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050" y="2155190"/>
            <a:ext cx="3429000" cy="20002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050" y="2713355"/>
            <a:ext cx="4238625" cy="476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235" y="1528445"/>
            <a:ext cx="3582035" cy="126619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356870" y="2651125"/>
            <a:ext cx="390969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sz="1400" b="1">
                <a:sym typeface="+mn-ea"/>
              </a:rPr>
              <a:t>1</a:t>
            </a:r>
            <a:r>
              <a:rPr lang="zh-CN" altLang="en-US" sz="1400" b="1">
                <a:sym typeface="+mn-ea"/>
              </a:rPr>
              <a:t>、从</a:t>
            </a:r>
            <a:r>
              <a:rPr lang="en-US" sz="1400" b="1">
                <a:sym typeface="+mn-ea"/>
              </a:rPr>
              <a:t>cv::Mat</a:t>
            </a:r>
            <a:r>
              <a:rPr lang="zh-CN" altLang="en-US" sz="1400" b="1">
                <a:sym typeface="+mn-ea"/>
              </a:rPr>
              <a:t>迁移到</a:t>
            </a:r>
            <a:r>
              <a:rPr lang="en-US" altLang="zh-CN" sz="1400" b="1">
                <a:sym typeface="+mn-ea"/>
              </a:rPr>
              <a:t>image_t</a:t>
            </a:r>
            <a:endParaRPr lang="en-US" altLang="zh-CN" sz="1400" b="1">
              <a:sym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2</a:t>
            </a:r>
            <a:r>
              <a:rPr lang="zh-CN" altLang="en-US" sz="1400" b="1">
                <a:sym typeface="+mn-ea"/>
              </a:rPr>
              <a:t>、</a:t>
            </a:r>
            <a:r>
              <a:rPr lang="en-US" altLang="zh-CN" sz="1400" b="1">
                <a:sym typeface="+mn-ea"/>
              </a:rPr>
              <a:t>dma</a:t>
            </a:r>
            <a:r>
              <a:rPr lang="zh-CN" altLang="en-US" sz="1400" b="1">
                <a:sym typeface="+mn-ea"/>
              </a:rPr>
              <a:t>、</a:t>
            </a:r>
            <a:r>
              <a:rPr lang="en-US" altLang="zh-CN" sz="1400" b="1">
                <a:sym typeface="+mn-ea"/>
              </a:rPr>
              <a:t>allocator</a:t>
            </a:r>
            <a:r>
              <a:rPr lang="zh-CN" altLang="en-US" sz="1400" b="1">
                <a:sym typeface="+mn-ea"/>
              </a:rPr>
              <a:t>暴露，客户需要学习</a:t>
            </a:r>
            <a:endParaRPr lang="zh-CN" altLang="en-US" sz="1400" b="1">
              <a:sym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3</a:t>
            </a:r>
            <a:r>
              <a:rPr lang="zh-CN" altLang="en-US" sz="1400" b="1">
                <a:sym typeface="+mn-ea"/>
              </a:rPr>
              <a:t>、</a:t>
            </a:r>
            <a:r>
              <a:rPr lang="en-US" altLang="zh-CN" sz="1400" b="1">
                <a:sym typeface="+mn-ea"/>
              </a:rPr>
              <a:t>threshold</a:t>
            </a:r>
            <a:r>
              <a:rPr lang="zh-CN" altLang="en-US" sz="1400" b="1">
                <a:sym typeface="+mn-ea"/>
              </a:rPr>
              <a:t>参数没有默认值</a:t>
            </a:r>
            <a:endParaRPr lang="zh-CN" altLang="en-US" sz="1400" b="1">
              <a:sym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4</a:t>
            </a:r>
            <a:r>
              <a:rPr lang="zh-CN" altLang="en-US" sz="1400" b="1">
                <a:sym typeface="+mn-ea"/>
              </a:rPr>
              <a:t>、从</a:t>
            </a:r>
            <a:r>
              <a:rPr lang="en-US" altLang="zh-CN" sz="1400" b="1">
                <a:sym typeface="+mn-ea"/>
              </a:rPr>
              <a:t>keypoints</a:t>
            </a:r>
            <a:r>
              <a:rPr lang="zh-CN" altLang="en-US" sz="1400" b="1">
                <a:sym typeface="+mn-ea"/>
              </a:rPr>
              <a:t>迁移到feature_list_t</a:t>
            </a:r>
            <a:endParaRPr lang="zh-CN" altLang="en-US" sz="1400" b="1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4885" y="3413760"/>
            <a:ext cx="2895600" cy="1581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4050" y="2395220"/>
            <a:ext cx="1533525" cy="2095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3665" y="4034790"/>
            <a:ext cx="43967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400" b="1">
                <a:sym typeface="+mn-ea"/>
              </a:rPr>
              <a:t>如果隐藏</a:t>
            </a:r>
            <a:r>
              <a:rPr lang="en-US" altLang="zh-CN" sz="1400" b="1">
                <a:sym typeface="+mn-ea"/>
              </a:rPr>
              <a:t>dma</a:t>
            </a:r>
            <a:r>
              <a:rPr lang="zh-CN" altLang="en-US" sz="1400" b="1">
                <a:sym typeface="+mn-ea"/>
              </a:rPr>
              <a:t>、</a:t>
            </a:r>
            <a:r>
              <a:rPr lang="en-US" altLang="zh-CN" sz="1400" b="1">
                <a:sym typeface="+mn-ea"/>
              </a:rPr>
              <a:t>allocator</a:t>
            </a:r>
            <a:r>
              <a:rPr lang="zh-CN" altLang="en-US" sz="1400" b="1">
                <a:sym typeface="+mn-ea"/>
              </a:rPr>
              <a:t>，再重新封装</a:t>
            </a:r>
            <a:r>
              <a:rPr lang="en-US" altLang="zh-CN" sz="1400" b="1">
                <a:sym typeface="+mn-ea"/>
              </a:rPr>
              <a:t>basic</a:t>
            </a:r>
            <a:r>
              <a:rPr lang="zh-CN" altLang="en-US" sz="1400" b="1">
                <a:sym typeface="+mn-ea"/>
              </a:rPr>
              <a:t>数据结构，</a:t>
            </a:r>
            <a:endParaRPr lang="zh-CN" altLang="en-US" sz="1400" b="1">
              <a:sym typeface="+mn-ea"/>
            </a:endParaRPr>
          </a:p>
          <a:p>
            <a:r>
              <a:rPr lang="zh-CN" altLang="en-US" sz="1400" b="1">
                <a:sym typeface="+mn-ea"/>
              </a:rPr>
              <a:t>对客户来说学习成本将大大降低</a:t>
            </a:r>
            <a:r>
              <a:rPr lang="en-US" altLang="zh-CN" sz="1400" b="1">
                <a:sym typeface="+mn-ea"/>
              </a:rPr>
              <a:t>!</a:t>
            </a:r>
            <a:endParaRPr lang="en-US" altLang="zh-CN" sz="14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23709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CEVA FAST-9</a:t>
            </a: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讨论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：隐藏allocator</a:t>
            </a:r>
            <a:endParaRPr 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75" y="1106805"/>
            <a:ext cx="2771775" cy="600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5" y="1776730"/>
            <a:ext cx="3286125" cy="209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5" y="1986280"/>
            <a:ext cx="3028950" cy="228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6875" y="2286635"/>
            <a:ext cx="77038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1400" b="1">
                <a:sym typeface="+mn-ea"/>
              </a:rPr>
              <a:t>ceva cv</a:t>
            </a:r>
            <a:r>
              <a:rPr lang="zh-CN" altLang="en-US" sz="1400" b="1">
                <a:sym typeface="+mn-ea"/>
              </a:rPr>
              <a:t>实现将</a:t>
            </a:r>
            <a:r>
              <a:rPr lang="en-US" altLang="zh-CN" sz="1400" b="1">
                <a:sym typeface="+mn-ea"/>
              </a:rPr>
              <a:t>allocator</a:t>
            </a:r>
            <a:r>
              <a:rPr lang="zh-CN" altLang="en-US" sz="1400" b="1">
                <a:sym typeface="+mn-ea"/>
              </a:rPr>
              <a:t>放在</a:t>
            </a:r>
            <a:r>
              <a:rPr lang="en-US" altLang="zh-CN" sz="1400" b="1">
                <a:sym typeface="+mn-ea"/>
              </a:rPr>
              <a:t>fast9_app/allocator.cpp</a:t>
            </a:r>
            <a:r>
              <a:rPr lang="zh-CN" altLang="en-US" sz="1400" b="1">
                <a:sym typeface="+mn-ea"/>
              </a:rPr>
              <a:t>。将其放在</a:t>
            </a:r>
            <a:r>
              <a:rPr lang="en-US" sz="1400" b="1">
                <a:sym typeface="+mn-ea"/>
              </a:rPr>
              <a:t>fast9_detecor_lib</a:t>
            </a:r>
            <a:r>
              <a:rPr lang="zh-CN" altLang="en-US" sz="1400" b="1">
                <a:sym typeface="+mn-ea"/>
              </a:rPr>
              <a:t>，并提供一个</a:t>
            </a:r>
            <a:r>
              <a:rPr lang="en-US" altLang="zh-CN" sz="1400" b="1">
                <a:sym typeface="+mn-ea"/>
              </a:rPr>
              <a:t>public</a:t>
            </a:r>
            <a:endParaRPr lang="en-US" altLang="zh-CN" sz="1400" b="1">
              <a:sym typeface="+mn-ea"/>
            </a:endParaRPr>
          </a:p>
          <a:p>
            <a:pPr algn="l"/>
            <a:r>
              <a:rPr lang="zh-CN" altLang="en-US" sz="1400" b="1">
                <a:sym typeface="+mn-ea"/>
              </a:rPr>
              <a:t>接口对其动态配置（如默认配置不能满足）？</a:t>
            </a:r>
            <a:endParaRPr lang="zh-CN" altLang="en-US" sz="14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23709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CEVA FAST-9</a:t>
            </a: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讨论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：隐藏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dma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1143000"/>
            <a:ext cx="2152650" cy="571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980" y="1202055"/>
            <a:ext cx="4371975" cy="352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10" y="1809115"/>
            <a:ext cx="4048760" cy="6832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10" y="2747645"/>
            <a:ext cx="8620125" cy="352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54330" y="3408045"/>
            <a:ext cx="70853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1400" b="1">
                <a:sym typeface="+mn-ea"/>
              </a:rPr>
              <a:t>ceva cv</a:t>
            </a:r>
            <a:r>
              <a:rPr lang="zh-CN" altLang="en-US" sz="1400" b="1">
                <a:sym typeface="+mn-ea"/>
              </a:rPr>
              <a:t>实现将</a:t>
            </a:r>
            <a:r>
              <a:rPr lang="en-US" altLang="zh-CN" sz="1400" b="1">
                <a:sym typeface="+mn-ea"/>
              </a:rPr>
              <a:t>dma</a:t>
            </a:r>
            <a:r>
              <a:rPr lang="zh-CN" altLang="en-US" sz="1400" b="1">
                <a:sym typeface="+mn-ea"/>
              </a:rPr>
              <a:t>相关代码放在</a:t>
            </a:r>
            <a:r>
              <a:rPr lang="en-US" altLang="zh-CN" sz="1400" b="1">
                <a:sym typeface="+mn-ea"/>
              </a:rPr>
              <a:t>fast9_app/fast9_app.h</a:t>
            </a:r>
            <a:r>
              <a:rPr lang="zh-CN" altLang="en-US" sz="1400" b="1">
                <a:sym typeface="+mn-ea"/>
              </a:rPr>
              <a:t>和</a:t>
            </a:r>
            <a:r>
              <a:rPr lang="en-US" altLang="zh-CN" sz="1400" b="1">
                <a:sym typeface="+mn-ea"/>
              </a:rPr>
              <a:t>common/application.h</a:t>
            </a:r>
            <a:r>
              <a:rPr lang="zh-CN" altLang="en-US" sz="1400" b="1">
                <a:sym typeface="+mn-ea"/>
              </a:rPr>
              <a:t>。将其放在</a:t>
            </a:r>
            <a:endParaRPr lang="zh-CN" altLang="en-US" sz="1400" b="1">
              <a:sym typeface="+mn-ea"/>
            </a:endParaRPr>
          </a:p>
          <a:p>
            <a:pPr algn="l"/>
            <a:r>
              <a:rPr lang="en-US" sz="1400" b="1">
                <a:sym typeface="+mn-ea"/>
              </a:rPr>
              <a:t>fast9_detecor_lib</a:t>
            </a:r>
            <a:r>
              <a:rPr lang="zh-CN" altLang="en-US" sz="1400" b="1">
                <a:sym typeface="+mn-ea"/>
              </a:rPr>
              <a:t>，并提供一个</a:t>
            </a:r>
            <a:r>
              <a:rPr lang="en-US" altLang="zh-CN" sz="1400" b="1">
                <a:sym typeface="+mn-ea"/>
              </a:rPr>
              <a:t>public</a:t>
            </a:r>
            <a:r>
              <a:rPr lang="zh-CN" altLang="en-US" sz="1400" b="1">
                <a:sym typeface="+mn-ea"/>
              </a:rPr>
              <a:t>接口对其动态配置（如默认配置不能满足）？</a:t>
            </a:r>
            <a:endParaRPr lang="zh-CN" altLang="en-US" sz="14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53365" y="267335"/>
            <a:ext cx="723709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0" hangingPunct="0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CEVA FAST-9</a:t>
            </a: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讨论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：仿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opencv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数据结构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-4"/>
          <p:cNvCxnSpPr/>
          <p:nvPr>
            <p:custDataLst>
              <p:tags r:id="rId1"/>
            </p:custDataLst>
          </p:nvPr>
        </p:nvCxnSpPr>
        <p:spPr>
          <a:xfrm>
            <a:off x="253479" y="353879"/>
            <a:ext cx="0" cy="345663"/>
          </a:xfrm>
          <a:prstGeom prst="line">
            <a:avLst/>
          </a:prstGeom>
          <a:ln w="28575">
            <a:solidFill>
              <a:srgbClr val="8E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53365" y="1150620"/>
            <a:ext cx="31629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1400" b="1">
                <a:sym typeface="+mn-ea"/>
              </a:rPr>
              <a:t>Opencv Mat</a:t>
            </a:r>
            <a:r>
              <a:rPr lang="zh-CN" altLang="en-US" sz="1400" b="1">
                <a:sym typeface="+mn-ea"/>
              </a:rPr>
              <a:t>结构：</a:t>
            </a:r>
            <a:endParaRPr lang="zh-CN" altLang="en-US" sz="1400" b="1">
              <a:sym typeface="+mn-ea"/>
            </a:endParaRPr>
          </a:p>
          <a:p>
            <a:pPr algn="l"/>
            <a:r>
              <a:rPr lang="en-US" altLang="zh-CN" sz="1400">
                <a:sym typeface="+mn-ea"/>
              </a:rPr>
              <a:t>cv::Mat image(height,  width,  data_type)</a:t>
            </a:r>
            <a:endParaRPr lang="en-US" altLang="zh-CN" sz="14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62425" y="1134110"/>
            <a:ext cx="390842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1400" b="1">
                <a:sym typeface="+mn-ea"/>
              </a:rPr>
              <a:t>自定义结构：</a:t>
            </a:r>
            <a:endParaRPr lang="zh-CN" altLang="en-US" sz="1400" b="1">
              <a:sym typeface="+mn-ea"/>
            </a:endParaRPr>
          </a:p>
          <a:p>
            <a:pPr algn="l"/>
            <a:r>
              <a:rPr lang="en-US" altLang="zh-CN" sz="1400">
                <a:sym typeface="+mn-ea"/>
              </a:rPr>
              <a:t>cv::Mat image(height,  width,  data_type,  data_ptr)</a:t>
            </a:r>
            <a:endParaRPr lang="en-US" altLang="zh-CN" sz="140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5440" y="2466975"/>
            <a:ext cx="7986395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600" b="1" dirty="0"/>
              <a:t>1.</a:t>
            </a:r>
            <a:r>
              <a:rPr lang="zh-CN" altLang="en-US" sz="1600" b="1" dirty="0"/>
              <a:t>如果将数据结构头和</a:t>
            </a:r>
            <a:r>
              <a:rPr lang="en-US" altLang="zh-CN" sz="1600" b="1" dirty="0"/>
              <a:t>data</a:t>
            </a:r>
            <a:r>
              <a:rPr lang="zh-CN" altLang="en-US" sz="1600" b="1" dirty="0"/>
              <a:t>缓冲区指针分离，构造时额外需要一个</a:t>
            </a:r>
            <a:r>
              <a:rPr lang="en-US" altLang="zh-CN" sz="1600" b="1" dirty="0" err="1"/>
              <a:t>data_ptr</a:t>
            </a:r>
            <a:r>
              <a:rPr lang="zh-CN" altLang="en-US" sz="1600" b="1" dirty="0"/>
              <a:t>，这对用户仍</a:t>
            </a:r>
            <a:endParaRPr lang="zh-CN" altLang="en-US" sz="1600" b="1" dirty="0"/>
          </a:p>
          <a:p>
            <a:r>
              <a:rPr lang="zh-CN" altLang="en-US" sz="1600" b="1" dirty="0" smtClean="0"/>
              <a:t>不</a:t>
            </a:r>
            <a:r>
              <a:rPr lang="zh-CN" altLang="en-US" sz="1600" b="1" dirty="0" smtClean="0"/>
              <a:t>太</a:t>
            </a:r>
            <a:r>
              <a:rPr lang="zh-CN" altLang="en-US" sz="1600" b="1" dirty="0" smtClean="0"/>
              <a:t>友好</a:t>
            </a:r>
            <a:r>
              <a:rPr lang="zh-CN" altLang="en-US" sz="1600" b="1" dirty="0" smtClean="0"/>
              <a:t>（然而可接受？）</a:t>
            </a:r>
            <a:r>
              <a:rPr lang="zh-CN" altLang="en-US" sz="1600" b="1" dirty="0" smtClean="0"/>
              <a:t>。</a:t>
            </a:r>
            <a:endParaRPr lang="zh-CN" altLang="en-US" sz="1600" b="1" dirty="0"/>
          </a:p>
          <a:p>
            <a:r>
              <a:rPr lang="en-US" altLang="zh-CN" sz="1600" b="1" dirty="0"/>
              <a:t>2.</a:t>
            </a:r>
            <a:r>
              <a:rPr lang="zh-CN" altLang="en-US" sz="1600" b="1" dirty="0"/>
              <a:t>去掉</a:t>
            </a:r>
            <a:r>
              <a:rPr lang="en-US" altLang="zh-CN" sz="1600" b="1" dirty="0" err="1"/>
              <a:t>data_ptr</a:t>
            </a:r>
            <a:r>
              <a:rPr lang="zh-CN" altLang="en-US" sz="1600" b="1" dirty="0"/>
              <a:t>，需要专门</a:t>
            </a:r>
            <a:r>
              <a:rPr lang="zh-CN" altLang="en-US" sz="1600" b="1" dirty="0" smtClean="0"/>
              <a:t>的</a:t>
            </a:r>
            <a:r>
              <a:rPr lang="en-US" altLang="zh-CN" sz="1600" b="1" dirty="0" smtClean="0"/>
              <a:t>DDR</a:t>
            </a:r>
            <a:r>
              <a:rPr lang="zh-CN" altLang="en-US" sz="1600" b="1" dirty="0" smtClean="0"/>
              <a:t>区域用来给</a:t>
            </a:r>
            <a:r>
              <a:rPr lang="en-US" altLang="zh-CN" sz="1600" b="1" dirty="0"/>
              <a:t>cv::Mat</a:t>
            </a:r>
            <a:r>
              <a:rPr lang="zh-CN" altLang="en-US" sz="1600" b="1" dirty="0"/>
              <a:t>动态分配存储？将带来什么挑战？</a:t>
            </a:r>
            <a:endParaRPr lang="zh-CN" altLang="en-US" sz="16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656080"/>
            <a:ext cx="3584575" cy="267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6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7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8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9.xml><?xml version="1.0" encoding="utf-8"?>
<p:tagLst xmlns:p="http://schemas.openxmlformats.org/presentationml/2006/main">
  <p:tag name="KSO_WM_UNIT_PLACING_PICTURE_USER_VIEWPORT" val="{&quot;height&quot;:3735,&quot;width&quot;:2370}"/>
</p:tagLst>
</file>

<file path=ppt/tags/tag10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11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12.xml><?xml version="1.0" encoding="utf-8"?>
<p:tagLst xmlns:p="http://schemas.openxmlformats.org/presentationml/2006/main">
  <p:tag name="KSO_WM_UNIT_PLACING_PICTURE_USER_VIEWPORT" val="{&quot;height&quot;:7305,&quot;width&quot;:4410}"/>
</p:tagLst>
</file>

<file path=ppt/tags/tag13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14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15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16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17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18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19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20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21.xml><?xml version="1.0" encoding="utf-8"?>
<p:tagLst xmlns:p="http://schemas.openxmlformats.org/presentationml/2006/main">
  <p:tag name="KSO_WM_UNIT_PLACING_PICTURE_USER_VIEWPORT" val="{&quot;height&quot;:7755,&quot;width&quot;:9825}"/>
</p:tagLst>
</file>

<file path=ppt/tags/tag22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23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24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25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26.xml><?xml version="1.0" encoding="utf-8"?>
<p:tagLst xmlns:p="http://schemas.openxmlformats.org/presentationml/2006/main">
  <p:tag name="MH" val="20170323163510"/>
  <p:tag name="MH_LIBRARY" val="CONTENTS"/>
  <p:tag name="MH_TYPE" val="OTHERS"/>
  <p:tag name="ID" val="547133"/>
</p:tagLst>
</file>

<file path=ppt/tags/tag27.xml><?xml version="1.0" encoding="utf-8"?>
<p:tagLst xmlns:p="http://schemas.openxmlformats.org/presentationml/2006/main">
  <p:tag name="KSO_WPP_MARK_KEY" val="d16cd83e-7670-4699-a38c-288af9015d8a"/>
  <p:tag name="COMMONDATA" val="eyJoZGlkIjoiY2I5MDg2Nzk4YmU2NGU3YzY4NzNlZDIyNDZiODEwZDk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主题16-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3727</Words>
  <Application>WPS 演示</Application>
  <PresentationFormat>全屏显示(16:9)</PresentationFormat>
  <Paragraphs>197</Paragraphs>
  <Slides>20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经典特宋简</vt:lpstr>
      <vt:lpstr>Wingdings</vt:lpstr>
      <vt:lpstr>Arial Unicode MS</vt:lpstr>
      <vt:lpstr>Calibri</vt:lpstr>
      <vt:lpstr>仿宋</vt:lpstr>
      <vt:lpstr>Malgun Gothic Semilight</vt:lpstr>
      <vt:lpstr>Malgun Gothic</vt:lpstr>
      <vt:lpstr>黑体</vt:lpstr>
      <vt:lpstr>MS Gothic</vt:lpstr>
      <vt:lpstr>Yu Gothic Medium</vt:lpstr>
      <vt:lpstr>Corbel Light</vt:lpstr>
      <vt:lpstr>Times New Roman</vt:lpstr>
      <vt:lpstr>自定义设计方案</vt:lpstr>
      <vt:lpstr>PPT主题16-9</vt:lpstr>
      <vt:lpstr>1_自定义设计方案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LuYou</cp:lastModifiedBy>
  <cp:revision>295</cp:revision>
  <dcterms:created xsi:type="dcterms:W3CDTF">2017-06-27T08:57:00Z</dcterms:created>
  <dcterms:modified xsi:type="dcterms:W3CDTF">2023-03-27T03:33:50Z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AAD4C3972A334B6DA0156BA16807B3C0</vt:lpwstr>
  </property>
</Properties>
</file>